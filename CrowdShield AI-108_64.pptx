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6" roundtripDataSignature="AMtx7mgE0rSCkAaOcUq+Zwkd4iOpPnF3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63ff5e64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f63ff5e64d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63ff5e64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f63ff5e64d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63ff5e64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f63ff5e64d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63ff5e64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f63ff5e64d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7"/>
          <p:cNvSpPr/>
          <p:nvPr>
            <p:ph idx="2" type="pic"/>
          </p:nvPr>
        </p:nvSpPr>
        <p:spPr>
          <a:xfrm>
            <a:off x="1792288" y="612775"/>
            <a:ext cx="5486400" cy="4114800"/>
          </a:xfrm>
          <a:prstGeom prst="rect">
            <a:avLst/>
          </a:prstGeom>
          <a:noFill/>
          <a:ln>
            <a:noFill/>
          </a:ln>
        </p:spPr>
      </p:sp>
      <p:sp>
        <p:nvSpPr>
          <p:cNvPr id="64" name="Google Shape;64;p1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15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83" name="Shape 83"/>
        <p:cNvGrpSpPr/>
        <p:nvPr/>
      </p:nvGrpSpPr>
      <p:grpSpPr>
        <a:xfrm>
          <a:off x="0" y="0"/>
          <a:ext cx="0" cy="0"/>
          <a:chOff x="0" y="0"/>
          <a:chExt cx="0" cy="0"/>
        </a:xfrm>
      </p:grpSpPr>
      <p:grpSp>
        <p:nvGrpSpPr>
          <p:cNvPr id="84" name="Google Shape;84;p1"/>
          <p:cNvGrpSpPr/>
          <p:nvPr/>
        </p:nvGrpSpPr>
        <p:grpSpPr>
          <a:xfrm rot="10800000">
            <a:off x="8769666" y="-642573"/>
            <a:ext cx="5623325" cy="4905543"/>
            <a:chOff x="0" y="0"/>
            <a:chExt cx="465865" cy="406400"/>
          </a:xfrm>
        </p:grpSpPr>
        <p:sp>
          <p:nvSpPr>
            <p:cNvPr id="85" name="Google Shape;85;p1"/>
            <p:cNvSpPr/>
            <p:nvPr/>
          </p:nvSpPr>
          <p:spPr>
            <a:xfrm>
              <a:off x="0" y="0"/>
              <a:ext cx="465865" cy="406400"/>
            </a:xfrm>
            <a:custGeom>
              <a:rect b="b" l="l" r="r" t="t"/>
              <a:pathLst>
                <a:path extrusionOk="0" h="406400" w="465865">
                  <a:moveTo>
                    <a:pt x="0" y="0"/>
                  </a:moveTo>
                  <a:lnTo>
                    <a:pt x="262665" y="0"/>
                  </a:lnTo>
                  <a:lnTo>
                    <a:pt x="465865" y="203200"/>
                  </a:lnTo>
                  <a:lnTo>
                    <a:pt x="262665" y="406400"/>
                  </a:lnTo>
                  <a:lnTo>
                    <a:pt x="0" y="406400"/>
                  </a:lnTo>
                  <a:lnTo>
                    <a:pt x="203200" y="203200"/>
                  </a:lnTo>
                  <a:lnTo>
                    <a:pt x="0" y="0"/>
                  </a:lnTo>
                  <a:close/>
                </a:path>
              </a:pathLst>
            </a:custGeom>
            <a:solidFill>
              <a:srgbClr val="EAD5A0"/>
            </a:solidFill>
            <a:ln>
              <a:noFill/>
            </a:ln>
          </p:spPr>
        </p:sp>
        <p:sp>
          <p:nvSpPr>
            <p:cNvPr id="86" name="Google Shape;86;p1"/>
            <p:cNvSpPr txBox="1"/>
            <p:nvPr/>
          </p:nvSpPr>
          <p:spPr>
            <a:xfrm>
              <a:off x="177800" y="0"/>
              <a:ext cx="211865" cy="4064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7" name="Google Shape;87;p1"/>
          <p:cNvGrpSpPr/>
          <p:nvPr/>
        </p:nvGrpSpPr>
        <p:grpSpPr>
          <a:xfrm rot="10800000">
            <a:off x="16806835" y="2782738"/>
            <a:ext cx="5623325" cy="4905543"/>
            <a:chOff x="0" y="0"/>
            <a:chExt cx="465865" cy="406400"/>
          </a:xfrm>
        </p:grpSpPr>
        <p:sp>
          <p:nvSpPr>
            <p:cNvPr id="88" name="Google Shape;88;p1"/>
            <p:cNvSpPr/>
            <p:nvPr/>
          </p:nvSpPr>
          <p:spPr>
            <a:xfrm>
              <a:off x="0" y="0"/>
              <a:ext cx="465865" cy="406400"/>
            </a:xfrm>
            <a:custGeom>
              <a:rect b="b" l="l" r="r" t="t"/>
              <a:pathLst>
                <a:path extrusionOk="0" h="406400" w="465865">
                  <a:moveTo>
                    <a:pt x="0" y="0"/>
                  </a:moveTo>
                  <a:lnTo>
                    <a:pt x="262665" y="0"/>
                  </a:lnTo>
                  <a:lnTo>
                    <a:pt x="465865" y="203200"/>
                  </a:lnTo>
                  <a:lnTo>
                    <a:pt x="262665" y="406400"/>
                  </a:lnTo>
                  <a:lnTo>
                    <a:pt x="0" y="406400"/>
                  </a:lnTo>
                  <a:lnTo>
                    <a:pt x="203200" y="203200"/>
                  </a:lnTo>
                  <a:lnTo>
                    <a:pt x="0" y="0"/>
                  </a:lnTo>
                  <a:close/>
                </a:path>
              </a:pathLst>
            </a:custGeom>
            <a:solidFill>
              <a:srgbClr val="FDBE12"/>
            </a:solidFill>
            <a:ln>
              <a:noFill/>
            </a:ln>
          </p:spPr>
        </p:sp>
        <p:sp>
          <p:nvSpPr>
            <p:cNvPr id="89" name="Google Shape;89;p1"/>
            <p:cNvSpPr txBox="1"/>
            <p:nvPr/>
          </p:nvSpPr>
          <p:spPr>
            <a:xfrm>
              <a:off x="177800" y="0"/>
              <a:ext cx="211865" cy="4064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0" name="Google Shape;90;p1"/>
          <p:cNvGrpSpPr/>
          <p:nvPr/>
        </p:nvGrpSpPr>
        <p:grpSpPr>
          <a:xfrm rot="10800000">
            <a:off x="9144000" y="-208110"/>
            <a:ext cx="12248111" cy="10684716"/>
            <a:chOff x="0" y="0"/>
            <a:chExt cx="465865" cy="406400"/>
          </a:xfrm>
        </p:grpSpPr>
        <p:sp>
          <p:nvSpPr>
            <p:cNvPr id="91" name="Google Shape;91;p1"/>
            <p:cNvSpPr/>
            <p:nvPr/>
          </p:nvSpPr>
          <p:spPr>
            <a:xfrm>
              <a:off x="0" y="0"/>
              <a:ext cx="465865" cy="406400"/>
            </a:xfrm>
            <a:custGeom>
              <a:rect b="b" l="l" r="r" t="t"/>
              <a:pathLst>
                <a:path extrusionOk="0" h="406400" w="465865">
                  <a:moveTo>
                    <a:pt x="0" y="0"/>
                  </a:moveTo>
                  <a:lnTo>
                    <a:pt x="262665" y="0"/>
                  </a:lnTo>
                  <a:lnTo>
                    <a:pt x="465865" y="203200"/>
                  </a:lnTo>
                  <a:lnTo>
                    <a:pt x="262665" y="406400"/>
                  </a:lnTo>
                  <a:lnTo>
                    <a:pt x="0" y="406400"/>
                  </a:lnTo>
                  <a:lnTo>
                    <a:pt x="203200" y="203200"/>
                  </a:lnTo>
                  <a:lnTo>
                    <a:pt x="0" y="0"/>
                  </a:lnTo>
                  <a:close/>
                </a:path>
              </a:pathLst>
            </a:custGeom>
            <a:solidFill>
              <a:srgbClr val="EE8C1A"/>
            </a:solidFill>
            <a:ln>
              <a:noFill/>
            </a:ln>
          </p:spPr>
        </p:sp>
        <p:sp>
          <p:nvSpPr>
            <p:cNvPr id="92" name="Google Shape;92;p1"/>
            <p:cNvSpPr txBox="1"/>
            <p:nvPr/>
          </p:nvSpPr>
          <p:spPr>
            <a:xfrm>
              <a:off x="177800" y="0"/>
              <a:ext cx="211865" cy="4064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3" name="Google Shape;93;p1"/>
          <p:cNvGrpSpPr/>
          <p:nvPr/>
        </p:nvGrpSpPr>
        <p:grpSpPr>
          <a:xfrm rot="10800000">
            <a:off x="10682780" y="2073690"/>
            <a:ext cx="13474043" cy="11754166"/>
            <a:chOff x="0" y="0"/>
            <a:chExt cx="465865" cy="406400"/>
          </a:xfrm>
        </p:grpSpPr>
        <p:sp>
          <p:nvSpPr>
            <p:cNvPr id="94" name="Google Shape;94;p1"/>
            <p:cNvSpPr/>
            <p:nvPr/>
          </p:nvSpPr>
          <p:spPr>
            <a:xfrm>
              <a:off x="0" y="0"/>
              <a:ext cx="465865" cy="406400"/>
            </a:xfrm>
            <a:custGeom>
              <a:rect b="b" l="l" r="r" t="t"/>
              <a:pathLst>
                <a:path extrusionOk="0" h="406400" w="465865">
                  <a:moveTo>
                    <a:pt x="0" y="0"/>
                  </a:moveTo>
                  <a:lnTo>
                    <a:pt x="262665" y="0"/>
                  </a:lnTo>
                  <a:lnTo>
                    <a:pt x="465865" y="203200"/>
                  </a:lnTo>
                  <a:lnTo>
                    <a:pt x="262665" y="406400"/>
                  </a:lnTo>
                  <a:lnTo>
                    <a:pt x="0" y="406400"/>
                  </a:lnTo>
                  <a:lnTo>
                    <a:pt x="203200" y="203200"/>
                  </a:lnTo>
                  <a:lnTo>
                    <a:pt x="0" y="0"/>
                  </a:lnTo>
                  <a:close/>
                </a:path>
              </a:pathLst>
            </a:custGeom>
            <a:solidFill>
              <a:srgbClr val="3D2921">
                <a:alpha val="0"/>
              </a:srgbClr>
            </a:solidFill>
            <a:ln cap="sq" cmpd="sng" w="142875">
              <a:solidFill>
                <a:srgbClr val="EE8C1A"/>
              </a:solidFill>
              <a:prstDash val="solid"/>
              <a:miter lim="8000"/>
              <a:headEnd len="sm" w="sm" type="none"/>
              <a:tailEnd len="sm" w="sm" type="none"/>
            </a:ln>
          </p:spPr>
        </p:sp>
        <p:sp>
          <p:nvSpPr>
            <p:cNvPr id="95" name="Google Shape;95;p1"/>
            <p:cNvSpPr txBox="1"/>
            <p:nvPr/>
          </p:nvSpPr>
          <p:spPr>
            <a:xfrm>
              <a:off x="177800" y="0"/>
              <a:ext cx="211865" cy="4064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6" name="Google Shape;96;p1"/>
          <p:cNvGrpSpPr/>
          <p:nvPr/>
        </p:nvGrpSpPr>
        <p:grpSpPr>
          <a:xfrm>
            <a:off x="1939033" y="7212300"/>
            <a:ext cx="11926705" cy="608076"/>
            <a:chOff x="0" y="0"/>
            <a:chExt cx="6384062" cy="609600"/>
          </a:xfrm>
        </p:grpSpPr>
        <p:sp>
          <p:nvSpPr>
            <p:cNvPr id="97" name="Google Shape;97;p1"/>
            <p:cNvSpPr/>
            <p:nvPr/>
          </p:nvSpPr>
          <p:spPr>
            <a:xfrm>
              <a:off x="0" y="0"/>
              <a:ext cx="6384062" cy="609600"/>
            </a:xfrm>
            <a:custGeom>
              <a:rect b="b" l="l" r="r" t="t"/>
              <a:pathLst>
                <a:path extrusionOk="0" h="609600" w="6384062">
                  <a:moveTo>
                    <a:pt x="203200" y="0"/>
                  </a:moveTo>
                  <a:lnTo>
                    <a:pt x="6384062" y="0"/>
                  </a:lnTo>
                  <a:lnTo>
                    <a:pt x="6180862" y="609600"/>
                  </a:lnTo>
                  <a:lnTo>
                    <a:pt x="0" y="609600"/>
                  </a:lnTo>
                  <a:lnTo>
                    <a:pt x="203200" y="0"/>
                  </a:lnTo>
                  <a:close/>
                </a:path>
              </a:pathLst>
            </a:custGeom>
            <a:solidFill>
              <a:srgbClr val="3D2921"/>
            </a:solidFill>
            <a:ln>
              <a:noFill/>
            </a:ln>
          </p:spPr>
        </p:sp>
        <p:sp>
          <p:nvSpPr>
            <p:cNvPr id="98" name="Google Shape;98;p1"/>
            <p:cNvSpPr txBox="1"/>
            <p:nvPr/>
          </p:nvSpPr>
          <p:spPr>
            <a:xfrm>
              <a:off x="101600" y="0"/>
              <a:ext cx="6180862" cy="6096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9" name="Google Shape;99;p1"/>
          <p:cNvSpPr txBox="1"/>
          <p:nvPr/>
        </p:nvSpPr>
        <p:spPr>
          <a:xfrm>
            <a:off x="1998625" y="2706332"/>
            <a:ext cx="6939600" cy="3294000"/>
          </a:xfrm>
          <a:prstGeom prst="rect">
            <a:avLst/>
          </a:prstGeom>
          <a:noFill/>
          <a:ln>
            <a:noFill/>
          </a:ln>
        </p:spPr>
        <p:txBody>
          <a:bodyPr anchorCtr="0" anchor="t" bIns="0" lIns="0" spcFirstLastPara="1" rIns="0" wrap="square" tIns="0">
            <a:spAutoFit/>
          </a:bodyPr>
          <a:lstStyle/>
          <a:p>
            <a:pPr indent="0" lvl="0" marL="0" marR="0" rtl="0" algn="l">
              <a:lnSpc>
                <a:spcPct val="113993"/>
              </a:lnSpc>
              <a:spcBef>
                <a:spcPts val="0"/>
              </a:spcBef>
              <a:spcAft>
                <a:spcPts val="0"/>
              </a:spcAft>
              <a:buNone/>
            </a:pPr>
            <a:r>
              <a:rPr b="1" lang="en-US" sz="10000">
                <a:solidFill>
                  <a:srgbClr val="262326"/>
                </a:solidFill>
                <a:latin typeface="Times New Roman"/>
                <a:ea typeface="Times New Roman"/>
                <a:cs typeface="Times New Roman"/>
                <a:sym typeface="Times New Roman"/>
              </a:rPr>
              <a:t>CROWD</a:t>
            </a:r>
            <a:endParaRPr b="1" sz="10000">
              <a:solidFill>
                <a:srgbClr val="262326"/>
              </a:solidFill>
              <a:latin typeface="Times New Roman"/>
              <a:ea typeface="Times New Roman"/>
              <a:cs typeface="Times New Roman"/>
              <a:sym typeface="Times New Roman"/>
            </a:endParaRPr>
          </a:p>
          <a:p>
            <a:pPr indent="0" lvl="0" marL="0" marR="0" rtl="0" algn="l">
              <a:lnSpc>
                <a:spcPct val="113993"/>
              </a:lnSpc>
              <a:spcBef>
                <a:spcPts val="0"/>
              </a:spcBef>
              <a:spcAft>
                <a:spcPts val="0"/>
              </a:spcAft>
              <a:buNone/>
            </a:pPr>
            <a:r>
              <a:rPr b="1" lang="en-US" sz="10000">
                <a:solidFill>
                  <a:srgbClr val="262326"/>
                </a:solidFill>
                <a:latin typeface="Times New Roman"/>
                <a:ea typeface="Times New Roman"/>
                <a:cs typeface="Times New Roman"/>
                <a:sym typeface="Times New Roman"/>
              </a:rPr>
              <a:t>SHIELD AI</a:t>
            </a:r>
            <a:endParaRPr b="1" sz="10000">
              <a:solidFill>
                <a:srgbClr val="262326"/>
              </a:solidFill>
              <a:latin typeface="Times New Roman"/>
              <a:ea typeface="Times New Roman"/>
              <a:cs typeface="Times New Roman"/>
              <a:sym typeface="Times New Roman"/>
            </a:endParaRPr>
          </a:p>
        </p:txBody>
      </p:sp>
      <p:sp>
        <p:nvSpPr>
          <p:cNvPr id="100" name="Google Shape;100;p1"/>
          <p:cNvSpPr txBox="1"/>
          <p:nvPr/>
        </p:nvSpPr>
        <p:spPr>
          <a:xfrm>
            <a:off x="2648251" y="7233850"/>
            <a:ext cx="129915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4000">
                <a:solidFill>
                  <a:srgbClr val="FFFFFF"/>
                </a:solidFill>
                <a:latin typeface="Times New Roman"/>
                <a:ea typeface="Times New Roman"/>
                <a:cs typeface="Times New Roman"/>
                <a:sym typeface="Times New Roman"/>
              </a:rPr>
              <a:t>Jaanga- Rajalakshmi Engineering College </a:t>
            </a:r>
            <a:endParaRPr sz="4000">
              <a:latin typeface="Times New Roman"/>
              <a:ea typeface="Times New Roman"/>
              <a:cs typeface="Times New Roman"/>
              <a:sym typeface="Times New Roman"/>
            </a:endParaRPr>
          </a:p>
        </p:txBody>
      </p:sp>
      <p:sp>
        <p:nvSpPr>
          <p:cNvPr id="101" name="Google Shape;101;p1"/>
          <p:cNvSpPr txBox="1"/>
          <p:nvPr/>
        </p:nvSpPr>
        <p:spPr>
          <a:xfrm>
            <a:off x="457200" y="9471575"/>
            <a:ext cx="4782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105" name="Shape 105"/>
        <p:cNvGrpSpPr/>
        <p:nvPr/>
      </p:nvGrpSpPr>
      <p:grpSpPr>
        <a:xfrm>
          <a:off x="0" y="0"/>
          <a:ext cx="0" cy="0"/>
          <a:chOff x="0" y="0"/>
          <a:chExt cx="0" cy="0"/>
        </a:xfrm>
      </p:grpSpPr>
      <p:sp>
        <p:nvSpPr>
          <p:cNvPr id="106" name="Google Shape;106;p2"/>
          <p:cNvSpPr txBox="1"/>
          <p:nvPr/>
        </p:nvSpPr>
        <p:spPr>
          <a:xfrm>
            <a:off x="617025" y="3186925"/>
            <a:ext cx="15076500" cy="1354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4000">
                <a:solidFill>
                  <a:srgbClr val="262326"/>
                </a:solidFill>
                <a:latin typeface="Times New Roman"/>
                <a:ea typeface="Times New Roman"/>
                <a:cs typeface="Times New Roman"/>
                <a:sym typeface="Times New Roman"/>
              </a:rPr>
              <a:t>Donie Pepin B - 241801064 AIDS (Rajalakshmi Engineering College)</a:t>
            </a:r>
            <a:endParaRPr b="1" sz="4000">
              <a:solidFill>
                <a:srgbClr val="262326"/>
              </a:solidFill>
              <a:latin typeface="Times New Roman"/>
              <a:ea typeface="Times New Roman"/>
              <a:cs typeface="Times New Roman"/>
              <a:sym typeface="Times New Roman"/>
            </a:endParaRPr>
          </a:p>
          <a:p>
            <a:pPr indent="0" lvl="0" marL="0" marR="0" rtl="0" algn="l">
              <a:lnSpc>
                <a:spcPct val="120000"/>
              </a:lnSpc>
              <a:spcBef>
                <a:spcPts val="0"/>
              </a:spcBef>
              <a:spcAft>
                <a:spcPts val="0"/>
              </a:spcAft>
              <a:buNone/>
            </a:pPr>
            <a:r>
              <a:rPr b="1" lang="en-US" sz="4000">
                <a:solidFill>
                  <a:srgbClr val="262326"/>
                </a:solidFill>
                <a:latin typeface="Times New Roman"/>
                <a:ea typeface="Times New Roman"/>
                <a:cs typeface="Times New Roman"/>
                <a:sym typeface="Times New Roman"/>
              </a:rPr>
              <a:t>Jeyaguru M - 241801108 AIDS (Rajalakshmi Engineering College)</a:t>
            </a:r>
            <a:endParaRPr b="1" sz="4000">
              <a:solidFill>
                <a:srgbClr val="262326"/>
              </a:solidFill>
              <a:latin typeface="Times New Roman"/>
              <a:ea typeface="Times New Roman"/>
              <a:cs typeface="Times New Roman"/>
              <a:sym typeface="Times New Roman"/>
            </a:endParaRPr>
          </a:p>
        </p:txBody>
      </p:sp>
      <p:grpSp>
        <p:nvGrpSpPr>
          <p:cNvPr id="107" name="Google Shape;107;p2"/>
          <p:cNvGrpSpPr/>
          <p:nvPr/>
        </p:nvGrpSpPr>
        <p:grpSpPr>
          <a:xfrm>
            <a:off x="13962452" y="6089081"/>
            <a:ext cx="5939508" cy="5588498"/>
            <a:chOff x="0" y="0"/>
            <a:chExt cx="459057" cy="431928"/>
          </a:xfrm>
        </p:grpSpPr>
        <p:sp>
          <p:nvSpPr>
            <p:cNvPr id="108" name="Google Shape;108;p2"/>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EE8C1A"/>
            </a:solidFill>
            <a:ln>
              <a:noFill/>
            </a:ln>
          </p:spPr>
        </p:sp>
        <p:sp>
          <p:nvSpPr>
            <p:cNvPr id="109" name="Google Shape;109;p2"/>
            <p:cNvSpPr txBox="1"/>
            <p:nvPr/>
          </p:nvSpPr>
          <p:spPr>
            <a:xfrm>
              <a:off x="177800" y="0"/>
              <a:ext cx="205057" cy="431928"/>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10" name="Google Shape;110;p2"/>
          <p:cNvGrpSpPr/>
          <p:nvPr/>
        </p:nvGrpSpPr>
        <p:grpSpPr>
          <a:xfrm>
            <a:off x="15693524" y="-181017"/>
            <a:ext cx="3131551" cy="2946484"/>
            <a:chOff x="0" y="0"/>
            <a:chExt cx="459057" cy="431928"/>
          </a:xfrm>
        </p:grpSpPr>
        <p:sp>
          <p:nvSpPr>
            <p:cNvPr id="111" name="Google Shape;111;p2"/>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FDBE12"/>
            </a:solidFill>
            <a:ln>
              <a:noFill/>
            </a:ln>
          </p:spPr>
        </p:sp>
        <p:sp>
          <p:nvSpPr>
            <p:cNvPr id="112" name="Google Shape;112;p2"/>
            <p:cNvSpPr txBox="1"/>
            <p:nvPr/>
          </p:nvSpPr>
          <p:spPr>
            <a:xfrm>
              <a:off x="177800" y="0"/>
              <a:ext cx="205057" cy="431928"/>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116" name="Shape 116"/>
        <p:cNvGrpSpPr/>
        <p:nvPr/>
      </p:nvGrpSpPr>
      <p:grpSpPr>
        <a:xfrm>
          <a:off x="0" y="0"/>
          <a:ext cx="0" cy="0"/>
          <a:chOff x="0" y="0"/>
          <a:chExt cx="0" cy="0"/>
        </a:xfrm>
      </p:grpSpPr>
      <p:sp>
        <p:nvSpPr>
          <p:cNvPr id="117" name="Google Shape;117;g3f63ff5e64d_0_52"/>
          <p:cNvSpPr txBox="1"/>
          <p:nvPr/>
        </p:nvSpPr>
        <p:spPr>
          <a:xfrm>
            <a:off x="770200" y="2765950"/>
            <a:ext cx="10460100" cy="2370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7000">
                <a:solidFill>
                  <a:srgbClr val="262326"/>
                </a:solidFill>
                <a:latin typeface="Times New Roman"/>
                <a:ea typeface="Times New Roman"/>
                <a:cs typeface="Times New Roman"/>
                <a:sym typeface="Times New Roman"/>
              </a:rPr>
              <a:t>PROBLEM STATEMENT</a:t>
            </a:r>
            <a:br>
              <a:rPr b="1" lang="en-US" sz="7000">
                <a:solidFill>
                  <a:srgbClr val="262326"/>
                </a:solidFill>
                <a:latin typeface="Times New Roman"/>
                <a:ea typeface="Times New Roman"/>
                <a:cs typeface="Times New Roman"/>
                <a:sym typeface="Times New Roman"/>
              </a:rPr>
            </a:br>
            <a:endParaRPr b="1" sz="7000">
              <a:solidFill>
                <a:srgbClr val="262326"/>
              </a:solidFill>
              <a:latin typeface="Times New Roman"/>
              <a:ea typeface="Times New Roman"/>
              <a:cs typeface="Times New Roman"/>
              <a:sym typeface="Times New Roman"/>
            </a:endParaRPr>
          </a:p>
        </p:txBody>
      </p:sp>
      <p:grpSp>
        <p:nvGrpSpPr>
          <p:cNvPr id="118" name="Google Shape;118;g3f63ff5e64d_0_52"/>
          <p:cNvGrpSpPr/>
          <p:nvPr/>
        </p:nvGrpSpPr>
        <p:grpSpPr>
          <a:xfrm>
            <a:off x="13962452" y="6089081"/>
            <a:ext cx="5939509" cy="5589432"/>
            <a:chOff x="0" y="0"/>
            <a:chExt cx="459057" cy="432000"/>
          </a:xfrm>
        </p:grpSpPr>
        <p:sp>
          <p:nvSpPr>
            <p:cNvPr id="119" name="Google Shape;119;g3f63ff5e64d_0_52"/>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EE8C1A"/>
            </a:solidFill>
            <a:ln>
              <a:noFill/>
            </a:ln>
          </p:spPr>
        </p:sp>
        <p:sp>
          <p:nvSpPr>
            <p:cNvPr id="120" name="Google Shape;120;g3f63ff5e64d_0_52"/>
            <p:cNvSpPr txBox="1"/>
            <p:nvPr/>
          </p:nvSpPr>
          <p:spPr>
            <a:xfrm>
              <a:off x="177800" y="0"/>
              <a:ext cx="205200" cy="4320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1" name="Google Shape;121;g3f63ff5e64d_0_52"/>
          <p:cNvSpPr txBox="1"/>
          <p:nvPr/>
        </p:nvSpPr>
        <p:spPr>
          <a:xfrm>
            <a:off x="770200" y="4080500"/>
            <a:ext cx="13017900" cy="309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700">
                <a:latin typeface="Times New Roman"/>
                <a:ea typeface="Times New Roman"/>
                <a:cs typeface="Times New Roman"/>
                <a:sym typeface="Times New Roman"/>
              </a:rPr>
              <a:t>Crowd situations are dynamic and unpredictable. While existing systems can detect crowd density and congestion, they provide limited support in predicting how the situation may evolve or understanding the consequences of different interventions.</a:t>
            </a:r>
            <a:endParaRPr sz="2700">
              <a:latin typeface="Times New Roman"/>
              <a:ea typeface="Times New Roman"/>
              <a:cs typeface="Times New Roman"/>
              <a:sym typeface="Times New Roman"/>
            </a:endParaRPr>
          </a:p>
          <a:p>
            <a:pPr indent="0" lvl="0" marL="0" rtl="0" algn="l">
              <a:spcBef>
                <a:spcPts val="0"/>
              </a:spcBef>
              <a:spcAft>
                <a:spcPts val="0"/>
              </a:spcAft>
              <a:buNone/>
            </a:pPr>
            <a:r>
              <a:t/>
            </a:r>
            <a:endParaRPr sz="2700">
              <a:latin typeface="Times New Roman"/>
              <a:ea typeface="Times New Roman"/>
              <a:cs typeface="Times New Roman"/>
              <a:sym typeface="Times New Roman"/>
            </a:endParaRPr>
          </a:p>
          <a:p>
            <a:pPr indent="0" lvl="0" marL="0" rtl="0" algn="l">
              <a:spcBef>
                <a:spcPts val="0"/>
              </a:spcBef>
              <a:spcAft>
                <a:spcPts val="0"/>
              </a:spcAft>
              <a:buNone/>
            </a:pPr>
            <a:r>
              <a:rPr lang="en-US" sz="2700">
                <a:latin typeface="Times New Roman"/>
                <a:ea typeface="Times New Roman"/>
                <a:cs typeface="Times New Roman"/>
                <a:sym typeface="Times New Roman"/>
              </a:rPr>
              <a:t>There is a need for a simulation-based decision-support system that can predict crowd behavior, visualize potential risks, test “what-if” scenarios, and help operators identify safer crowd-management strategies before acting.</a:t>
            </a:r>
            <a:endParaRPr sz="2700">
              <a:latin typeface="Times New Roman"/>
              <a:ea typeface="Times New Roman"/>
              <a:cs typeface="Times New Roman"/>
              <a:sym typeface="Times New Roman"/>
            </a:endParaRPr>
          </a:p>
        </p:txBody>
      </p:sp>
      <p:grpSp>
        <p:nvGrpSpPr>
          <p:cNvPr id="122" name="Google Shape;122;g3f63ff5e64d_0_52"/>
          <p:cNvGrpSpPr/>
          <p:nvPr/>
        </p:nvGrpSpPr>
        <p:grpSpPr>
          <a:xfrm>
            <a:off x="15693524" y="-181017"/>
            <a:ext cx="3131549" cy="2946974"/>
            <a:chOff x="0" y="0"/>
            <a:chExt cx="459057" cy="432000"/>
          </a:xfrm>
        </p:grpSpPr>
        <p:sp>
          <p:nvSpPr>
            <p:cNvPr id="123" name="Google Shape;123;g3f63ff5e64d_0_52"/>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FDBE12"/>
            </a:solidFill>
            <a:ln>
              <a:noFill/>
            </a:ln>
          </p:spPr>
        </p:sp>
        <p:sp>
          <p:nvSpPr>
            <p:cNvPr id="124" name="Google Shape;124;g3f63ff5e64d_0_52"/>
            <p:cNvSpPr txBox="1"/>
            <p:nvPr/>
          </p:nvSpPr>
          <p:spPr>
            <a:xfrm>
              <a:off x="177800" y="0"/>
              <a:ext cx="205200" cy="4320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128" name="Shape 128"/>
        <p:cNvGrpSpPr/>
        <p:nvPr/>
      </p:nvGrpSpPr>
      <p:grpSpPr>
        <a:xfrm>
          <a:off x="0" y="0"/>
          <a:ext cx="0" cy="0"/>
          <a:chOff x="0" y="0"/>
          <a:chExt cx="0" cy="0"/>
        </a:xfrm>
      </p:grpSpPr>
      <p:grpSp>
        <p:nvGrpSpPr>
          <p:cNvPr id="129" name="Google Shape;129;p3"/>
          <p:cNvGrpSpPr/>
          <p:nvPr/>
        </p:nvGrpSpPr>
        <p:grpSpPr>
          <a:xfrm>
            <a:off x="13962452" y="6089081"/>
            <a:ext cx="5939508" cy="5588498"/>
            <a:chOff x="0" y="0"/>
            <a:chExt cx="459057" cy="431928"/>
          </a:xfrm>
        </p:grpSpPr>
        <p:sp>
          <p:nvSpPr>
            <p:cNvPr id="130" name="Google Shape;130;p3"/>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EE8C1A"/>
            </a:solidFill>
            <a:ln>
              <a:noFill/>
            </a:ln>
          </p:spPr>
        </p:sp>
        <p:sp>
          <p:nvSpPr>
            <p:cNvPr id="131" name="Google Shape;131;p3"/>
            <p:cNvSpPr txBox="1"/>
            <p:nvPr/>
          </p:nvSpPr>
          <p:spPr>
            <a:xfrm>
              <a:off x="177800" y="0"/>
              <a:ext cx="205057" cy="431928"/>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2" name="Google Shape;132;p3"/>
          <p:cNvGrpSpPr/>
          <p:nvPr/>
        </p:nvGrpSpPr>
        <p:grpSpPr>
          <a:xfrm>
            <a:off x="15693524" y="-181017"/>
            <a:ext cx="3131551" cy="2946484"/>
            <a:chOff x="0" y="0"/>
            <a:chExt cx="459057" cy="431928"/>
          </a:xfrm>
        </p:grpSpPr>
        <p:sp>
          <p:nvSpPr>
            <p:cNvPr id="133" name="Google Shape;133;p3"/>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FDBE12"/>
            </a:solidFill>
            <a:ln>
              <a:noFill/>
            </a:ln>
          </p:spPr>
        </p:sp>
        <p:sp>
          <p:nvSpPr>
            <p:cNvPr id="134" name="Google Shape;134;p3"/>
            <p:cNvSpPr txBox="1"/>
            <p:nvPr/>
          </p:nvSpPr>
          <p:spPr>
            <a:xfrm>
              <a:off x="177800" y="0"/>
              <a:ext cx="205057" cy="431928"/>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5" name="Google Shape;135;p3"/>
          <p:cNvSpPr txBox="1"/>
          <p:nvPr/>
        </p:nvSpPr>
        <p:spPr>
          <a:xfrm>
            <a:off x="2269075" y="2474700"/>
            <a:ext cx="120225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5000">
                <a:latin typeface="Times New Roman"/>
                <a:ea typeface="Times New Roman"/>
                <a:cs typeface="Times New Roman"/>
                <a:sym typeface="Times New Roman"/>
              </a:rPr>
              <a:t>The Problem</a:t>
            </a:r>
            <a:endParaRPr sz="3000">
              <a:latin typeface="Times New Roman"/>
              <a:ea typeface="Times New Roman"/>
              <a:cs typeface="Times New Roman"/>
              <a:sym typeface="Times New Roman"/>
            </a:endParaRPr>
          </a:p>
          <a:p>
            <a:pPr indent="0" lvl="0" marL="0" rtl="0" algn="l">
              <a:spcBef>
                <a:spcPts val="0"/>
              </a:spcBef>
              <a:spcAft>
                <a:spcPts val="0"/>
              </a:spcAft>
              <a:buNone/>
            </a:pPr>
            <a:r>
              <a:rPr lang="en-US" sz="3500">
                <a:latin typeface="Times New Roman"/>
                <a:ea typeface="Times New Roman"/>
                <a:cs typeface="Times New Roman"/>
                <a:sym typeface="Times New Roman"/>
              </a:rPr>
              <a:t>When Crowds Become Dangerous Large gatherings such as:</a:t>
            </a:r>
            <a:endParaRPr sz="3500">
              <a:latin typeface="Times New Roman"/>
              <a:ea typeface="Times New Roman"/>
              <a:cs typeface="Times New Roman"/>
              <a:sym typeface="Times New Roman"/>
            </a:endParaRPr>
          </a:p>
          <a:p>
            <a:pPr indent="457200" lvl="0" marL="0" rtl="0" algn="l">
              <a:spcBef>
                <a:spcPts val="0"/>
              </a:spcBef>
              <a:spcAft>
                <a:spcPts val="0"/>
              </a:spcAft>
              <a:buNone/>
            </a:pPr>
            <a:r>
              <a:rPr lang="en-US" sz="3500">
                <a:latin typeface="Times New Roman"/>
                <a:ea typeface="Times New Roman"/>
                <a:cs typeface="Times New Roman"/>
                <a:sym typeface="Times New Roman"/>
              </a:rPr>
              <a:t>$ Concerts Stadium events </a:t>
            </a:r>
            <a:endParaRPr sz="3500">
              <a:latin typeface="Times New Roman"/>
              <a:ea typeface="Times New Roman"/>
              <a:cs typeface="Times New Roman"/>
              <a:sym typeface="Times New Roman"/>
            </a:endParaRPr>
          </a:p>
          <a:p>
            <a:pPr indent="457200" lvl="0" marL="0" rtl="0" algn="l">
              <a:spcBef>
                <a:spcPts val="0"/>
              </a:spcBef>
              <a:spcAft>
                <a:spcPts val="0"/>
              </a:spcAft>
              <a:buNone/>
            </a:pPr>
            <a:r>
              <a:rPr lang="en-US" sz="3500">
                <a:latin typeface="Times New Roman"/>
                <a:ea typeface="Times New Roman"/>
                <a:cs typeface="Times New Roman"/>
                <a:sym typeface="Times New Roman"/>
              </a:rPr>
              <a:t>$ Festivals Religious gatherings </a:t>
            </a:r>
            <a:endParaRPr sz="3500">
              <a:latin typeface="Times New Roman"/>
              <a:ea typeface="Times New Roman"/>
              <a:cs typeface="Times New Roman"/>
              <a:sym typeface="Times New Roman"/>
            </a:endParaRPr>
          </a:p>
          <a:p>
            <a:pPr indent="457200" lvl="0" marL="0" rtl="0" algn="l">
              <a:spcBef>
                <a:spcPts val="0"/>
              </a:spcBef>
              <a:spcAft>
                <a:spcPts val="0"/>
              </a:spcAft>
              <a:buNone/>
            </a:pPr>
            <a:r>
              <a:rPr lang="en-US" sz="3500">
                <a:latin typeface="Times New Roman"/>
                <a:ea typeface="Times New Roman"/>
                <a:cs typeface="Times New Roman"/>
                <a:sym typeface="Times New Roman"/>
              </a:rPr>
              <a:t>$ Railway stations </a:t>
            </a:r>
            <a:endParaRPr sz="3500">
              <a:latin typeface="Times New Roman"/>
              <a:ea typeface="Times New Roman"/>
              <a:cs typeface="Times New Roman"/>
              <a:sym typeface="Times New Roman"/>
            </a:endParaRPr>
          </a:p>
          <a:p>
            <a:pPr indent="457200" lvl="0" marL="0" rtl="0" algn="l">
              <a:spcBef>
                <a:spcPts val="0"/>
              </a:spcBef>
              <a:spcAft>
                <a:spcPts val="0"/>
              </a:spcAft>
              <a:buNone/>
            </a:pPr>
            <a:r>
              <a:rPr lang="en-US" sz="3500">
                <a:latin typeface="Times New Roman"/>
                <a:ea typeface="Times New Roman"/>
                <a:cs typeface="Times New Roman"/>
                <a:sym typeface="Times New Roman"/>
              </a:rPr>
              <a:t>$ Public celebrations </a:t>
            </a:r>
            <a:endParaRPr sz="3500">
              <a:latin typeface="Times New Roman"/>
              <a:ea typeface="Times New Roman"/>
              <a:cs typeface="Times New Roman"/>
              <a:sym typeface="Times New Roman"/>
            </a:endParaRPr>
          </a:p>
          <a:p>
            <a:pPr indent="0" lvl="0" marL="0" rtl="0" algn="l">
              <a:spcBef>
                <a:spcPts val="0"/>
              </a:spcBef>
              <a:spcAft>
                <a:spcPts val="0"/>
              </a:spcAft>
              <a:buNone/>
            </a:pPr>
            <a:r>
              <a:rPr lang="en-US" sz="3500">
                <a:latin typeface="Times New Roman"/>
                <a:ea typeface="Times New Roman"/>
                <a:cs typeface="Times New Roman"/>
                <a:sym typeface="Times New Roman"/>
              </a:rPr>
              <a:t>can rapidly develop dangerous crowd conditions.</a:t>
            </a:r>
            <a:endParaRPr sz="35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139" name="Shape 139"/>
        <p:cNvGrpSpPr/>
        <p:nvPr/>
      </p:nvGrpSpPr>
      <p:grpSpPr>
        <a:xfrm>
          <a:off x="0" y="0"/>
          <a:ext cx="0" cy="0"/>
          <a:chOff x="0" y="0"/>
          <a:chExt cx="0" cy="0"/>
        </a:xfrm>
      </p:grpSpPr>
      <p:grpSp>
        <p:nvGrpSpPr>
          <p:cNvPr id="140" name="Google Shape;140;g3f63ff5e64d_0_3"/>
          <p:cNvGrpSpPr/>
          <p:nvPr/>
        </p:nvGrpSpPr>
        <p:grpSpPr>
          <a:xfrm>
            <a:off x="13962452" y="6089081"/>
            <a:ext cx="5939509" cy="5589432"/>
            <a:chOff x="0" y="0"/>
            <a:chExt cx="459057" cy="432000"/>
          </a:xfrm>
        </p:grpSpPr>
        <p:sp>
          <p:nvSpPr>
            <p:cNvPr id="141" name="Google Shape;141;g3f63ff5e64d_0_3"/>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EE8C1A"/>
            </a:solidFill>
            <a:ln>
              <a:noFill/>
            </a:ln>
          </p:spPr>
        </p:sp>
        <p:sp>
          <p:nvSpPr>
            <p:cNvPr id="142" name="Google Shape;142;g3f63ff5e64d_0_3"/>
            <p:cNvSpPr txBox="1"/>
            <p:nvPr/>
          </p:nvSpPr>
          <p:spPr>
            <a:xfrm>
              <a:off x="177800" y="0"/>
              <a:ext cx="205200" cy="4320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3" name="Google Shape;143;g3f63ff5e64d_0_3"/>
          <p:cNvGrpSpPr/>
          <p:nvPr/>
        </p:nvGrpSpPr>
        <p:grpSpPr>
          <a:xfrm>
            <a:off x="15693524" y="-181017"/>
            <a:ext cx="3131549" cy="2946974"/>
            <a:chOff x="0" y="0"/>
            <a:chExt cx="459057" cy="432000"/>
          </a:xfrm>
        </p:grpSpPr>
        <p:sp>
          <p:nvSpPr>
            <p:cNvPr id="144" name="Google Shape;144;g3f63ff5e64d_0_3"/>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FDBE12"/>
            </a:solidFill>
            <a:ln>
              <a:noFill/>
            </a:ln>
          </p:spPr>
        </p:sp>
        <p:sp>
          <p:nvSpPr>
            <p:cNvPr id="145" name="Google Shape;145;g3f63ff5e64d_0_3"/>
            <p:cNvSpPr txBox="1"/>
            <p:nvPr/>
          </p:nvSpPr>
          <p:spPr>
            <a:xfrm>
              <a:off x="177800" y="0"/>
              <a:ext cx="205200" cy="4320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46" name="Google Shape;146;g3f63ff5e64d_0_3"/>
          <p:cNvSpPr txBox="1"/>
          <p:nvPr/>
        </p:nvSpPr>
        <p:spPr>
          <a:xfrm>
            <a:off x="660400" y="1629675"/>
            <a:ext cx="16945500" cy="822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3500">
                <a:solidFill>
                  <a:schemeClr val="dk1"/>
                </a:solidFill>
                <a:latin typeface="Times New Roman"/>
                <a:ea typeface="Times New Roman"/>
                <a:cs typeface="Times New Roman"/>
                <a:sym typeface="Times New Roman"/>
              </a:rPr>
              <a:t>Key challenges:</a:t>
            </a:r>
            <a:endParaRPr b="1" sz="3500">
              <a:solidFill>
                <a:schemeClr val="dk1"/>
              </a:solidFill>
              <a:latin typeface="Times New Roman"/>
              <a:ea typeface="Times New Roman"/>
              <a:cs typeface="Times New Roman"/>
              <a:sym typeface="Times New Roman"/>
            </a:endParaRPr>
          </a:p>
          <a:p>
            <a:pPr indent="0" lvl="0" marL="88900" rtl="0" algn="l">
              <a:lnSpc>
                <a:spcPct val="115000"/>
              </a:lnSpc>
              <a:spcBef>
                <a:spcPts val="1100"/>
              </a:spcBef>
              <a:spcAft>
                <a:spcPts val="0"/>
              </a:spcAft>
              <a:buNone/>
            </a:pPr>
            <a:r>
              <a:rPr lang="en-US" sz="3500">
                <a:solidFill>
                  <a:schemeClr val="dk1"/>
                </a:solidFill>
                <a:latin typeface="Times New Roman"/>
                <a:ea typeface="Times New Roman"/>
                <a:cs typeface="Times New Roman"/>
                <a:sym typeface="Times New Roman"/>
              </a:rPr>
              <a:t> </a:t>
            </a:r>
            <a:r>
              <a:rPr b="1" lang="en-US" sz="3500">
                <a:solidFill>
                  <a:schemeClr val="dk1"/>
                </a:solidFill>
                <a:latin typeface="Times New Roman"/>
                <a:ea typeface="Times New Roman"/>
                <a:cs typeface="Times New Roman"/>
                <a:sym typeface="Times New Roman"/>
              </a:rPr>
              <a:t>Overcrowding</a:t>
            </a:r>
            <a:endParaRPr b="1" sz="3500">
              <a:solidFill>
                <a:schemeClr val="dk1"/>
              </a:solidFill>
              <a:latin typeface="Times New Roman"/>
              <a:ea typeface="Times New Roman"/>
              <a:cs typeface="Times New Roman"/>
              <a:sym typeface="Times New Roman"/>
            </a:endParaRPr>
          </a:p>
          <a:p>
            <a:pPr indent="0" lvl="0" marL="76200" rtl="0" algn="l">
              <a:lnSpc>
                <a:spcPct val="115000"/>
              </a:lnSpc>
              <a:spcBef>
                <a:spcPts val="200"/>
              </a:spcBef>
              <a:spcAft>
                <a:spcPts val="0"/>
              </a:spcAft>
              <a:buNone/>
            </a:pPr>
            <a:r>
              <a:rPr lang="en-US" sz="3000">
                <a:solidFill>
                  <a:schemeClr val="dk1"/>
                </a:solidFill>
                <a:latin typeface="Times New Roman"/>
                <a:ea typeface="Times New Roman"/>
                <a:cs typeface="Times New Roman"/>
                <a:sym typeface="Times New Roman"/>
              </a:rPr>
              <a:t>High population density can reduce individual movement and create dangerous pressure.</a:t>
            </a:r>
            <a:endParaRPr sz="3000">
              <a:solidFill>
                <a:schemeClr val="dk1"/>
              </a:solidFill>
              <a:latin typeface="Times New Roman"/>
              <a:ea typeface="Times New Roman"/>
              <a:cs typeface="Times New Roman"/>
              <a:sym typeface="Times New Roman"/>
            </a:endParaRPr>
          </a:p>
          <a:p>
            <a:pPr indent="0" lvl="0" marL="88900" rtl="0" algn="l">
              <a:lnSpc>
                <a:spcPct val="115000"/>
              </a:lnSpc>
              <a:spcBef>
                <a:spcPts val="300"/>
              </a:spcBef>
              <a:spcAft>
                <a:spcPts val="0"/>
              </a:spcAft>
              <a:buNone/>
            </a:pPr>
            <a:r>
              <a:rPr lang="en-US" sz="3500">
                <a:solidFill>
                  <a:schemeClr val="dk1"/>
                </a:solidFill>
                <a:latin typeface="Times New Roman"/>
                <a:ea typeface="Times New Roman"/>
                <a:cs typeface="Times New Roman"/>
                <a:sym typeface="Times New Roman"/>
              </a:rPr>
              <a:t> </a:t>
            </a:r>
            <a:r>
              <a:rPr b="1" lang="en-US" sz="3500">
                <a:solidFill>
                  <a:schemeClr val="dk1"/>
                </a:solidFill>
                <a:latin typeface="Times New Roman"/>
                <a:ea typeface="Times New Roman"/>
                <a:cs typeface="Times New Roman"/>
                <a:sym typeface="Times New Roman"/>
              </a:rPr>
              <a:t>Poor Management Coordination</a:t>
            </a:r>
            <a:br>
              <a:rPr b="1" lang="en-US" sz="3500">
                <a:solidFill>
                  <a:schemeClr val="dk1"/>
                </a:solidFill>
                <a:latin typeface="Times New Roman"/>
                <a:ea typeface="Times New Roman"/>
                <a:cs typeface="Times New Roman"/>
                <a:sym typeface="Times New Roman"/>
              </a:rPr>
            </a:br>
            <a:r>
              <a:rPr lang="en-US" sz="3500">
                <a:solidFill>
                  <a:schemeClr val="dk1"/>
                </a:solidFill>
                <a:latin typeface="Times New Roman"/>
                <a:ea typeface="Times New Roman"/>
                <a:cs typeface="Times New Roman"/>
                <a:sym typeface="Times New Roman"/>
              </a:rPr>
              <a:t>Blind Exposure to management plans and critical situation</a:t>
            </a:r>
            <a:r>
              <a:rPr lang="en-US" sz="3000">
                <a:solidFill>
                  <a:schemeClr val="dk1"/>
                </a:solidFill>
                <a:latin typeface="Times New Roman"/>
                <a:ea typeface="Times New Roman"/>
                <a:cs typeface="Times New Roman"/>
                <a:sym typeface="Times New Roman"/>
              </a:rPr>
              <a:t>.</a:t>
            </a:r>
            <a:endParaRPr sz="3000">
              <a:solidFill>
                <a:schemeClr val="dk1"/>
              </a:solidFill>
              <a:latin typeface="Times New Roman"/>
              <a:ea typeface="Times New Roman"/>
              <a:cs typeface="Times New Roman"/>
              <a:sym typeface="Times New Roman"/>
            </a:endParaRPr>
          </a:p>
          <a:p>
            <a:pPr indent="0" lvl="0" marL="88900" rtl="0" algn="l">
              <a:lnSpc>
                <a:spcPct val="115000"/>
              </a:lnSpc>
              <a:spcBef>
                <a:spcPts val="0"/>
              </a:spcBef>
              <a:spcAft>
                <a:spcPts val="0"/>
              </a:spcAft>
              <a:buNone/>
            </a:pPr>
            <a:r>
              <a:rPr b="1" lang="en-US" sz="3500">
                <a:solidFill>
                  <a:schemeClr val="dk1"/>
                </a:solidFill>
                <a:latin typeface="Times New Roman"/>
                <a:ea typeface="Times New Roman"/>
                <a:cs typeface="Times New Roman"/>
                <a:sym typeface="Times New Roman"/>
              </a:rPr>
              <a:t> Sudden Crowd Surges</a:t>
            </a:r>
            <a:endParaRPr b="1" sz="3500">
              <a:solidFill>
                <a:schemeClr val="dk1"/>
              </a:solidFill>
              <a:latin typeface="Times New Roman"/>
              <a:ea typeface="Times New Roman"/>
              <a:cs typeface="Times New Roman"/>
              <a:sym typeface="Times New Roman"/>
            </a:endParaRPr>
          </a:p>
          <a:p>
            <a:pPr indent="0" lvl="0" marL="76200" rtl="0" algn="l">
              <a:lnSpc>
                <a:spcPct val="115000"/>
              </a:lnSpc>
              <a:spcBef>
                <a:spcPts val="200"/>
              </a:spcBef>
              <a:spcAft>
                <a:spcPts val="0"/>
              </a:spcAft>
              <a:buNone/>
            </a:pPr>
            <a:r>
              <a:rPr lang="en-US" sz="3000">
                <a:solidFill>
                  <a:schemeClr val="dk1"/>
                </a:solidFill>
                <a:latin typeface="Times New Roman"/>
                <a:ea typeface="Times New Roman"/>
                <a:cs typeface="Times New Roman"/>
                <a:sym typeface="Times New Roman"/>
              </a:rPr>
              <a:t>Unexpected movement can rapidly increase density in a specific zone.</a:t>
            </a:r>
            <a:endParaRPr sz="3000">
              <a:solidFill>
                <a:schemeClr val="dk1"/>
              </a:solidFill>
              <a:latin typeface="Times New Roman"/>
              <a:ea typeface="Times New Roman"/>
              <a:cs typeface="Times New Roman"/>
              <a:sym typeface="Times New Roman"/>
            </a:endParaRPr>
          </a:p>
          <a:p>
            <a:pPr indent="0" lvl="0" marL="88900" rtl="0" algn="l">
              <a:lnSpc>
                <a:spcPct val="115000"/>
              </a:lnSpc>
              <a:spcBef>
                <a:spcPts val="1100"/>
              </a:spcBef>
              <a:spcAft>
                <a:spcPts val="0"/>
              </a:spcAft>
              <a:buNone/>
            </a:pPr>
            <a:r>
              <a:rPr b="1" lang="en-US" sz="3500">
                <a:solidFill>
                  <a:schemeClr val="dk1"/>
                </a:solidFill>
                <a:latin typeface="Times New Roman"/>
                <a:ea typeface="Times New Roman"/>
                <a:cs typeface="Times New Roman"/>
                <a:sym typeface="Times New Roman"/>
              </a:rPr>
              <a:t> Delayed Response</a:t>
            </a:r>
            <a:endParaRPr b="1" sz="3500">
              <a:solidFill>
                <a:schemeClr val="dk1"/>
              </a:solidFill>
              <a:latin typeface="Times New Roman"/>
              <a:ea typeface="Times New Roman"/>
              <a:cs typeface="Times New Roman"/>
              <a:sym typeface="Times New Roman"/>
            </a:endParaRPr>
          </a:p>
          <a:p>
            <a:pPr indent="0" lvl="0" marL="76200" rtl="0" algn="l">
              <a:lnSpc>
                <a:spcPct val="115000"/>
              </a:lnSpc>
              <a:spcBef>
                <a:spcPts val="200"/>
              </a:spcBef>
              <a:spcAft>
                <a:spcPts val="0"/>
              </a:spcAft>
              <a:buNone/>
            </a:pPr>
            <a:r>
              <a:rPr lang="en-US" sz="3000">
                <a:solidFill>
                  <a:schemeClr val="dk1"/>
                </a:solidFill>
                <a:latin typeface="Times New Roman"/>
                <a:ea typeface="Times New Roman"/>
                <a:cs typeface="Times New Roman"/>
                <a:sym typeface="Times New Roman"/>
              </a:rPr>
              <a:t>Traditional monitoring often identifies a problem after congestion has already become severe.</a:t>
            </a:r>
            <a:endParaRPr sz="3000">
              <a:solidFill>
                <a:schemeClr val="dk1"/>
              </a:solidFill>
              <a:latin typeface="Times New Roman"/>
              <a:ea typeface="Times New Roman"/>
              <a:cs typeface="Times New Roman"/>
              <a:sym typeface="Times New Roman"/>
            </a:endParaRPr>
          </a:p>
          <a:p>
            <a:pPr indent="0" lvl="0" marL="88900" rtl="0" algn="l">
              <a:lnSpc>
                <a:spcPct val="115000"/>
              </a:lnSpc>
              <a:spcBef>
                <a:spcPts val="1100"/>
              </a:spcBef>
              <a:spcAft>
                <a:spcPts val="0"/>
              </a:spcAft>
              <a:buNone/>
            </a:pPr>
            <a:r>
              <a:rPr b="1" lang="en-US" sz="3500">
                <a:solidFill>
                  <a:schemeClr val="dk1"/>
                </a:solidFill>
                <a:latin typeface="Times New Roman"/>
                <a:ea typeface="Times New Roman"/>
                <a:cs typeface="Times New Roman"/>
                <a:sym typeface="Times New Roman"/>
              </a:rPr>
              <a:t> Lack of Scenario Testing</a:t>
            </a:r>
            <a:endParaRPr b="1" sz="3500">
              <a:solidFill>
                <a:schemeClr val="dk1"/>
              </a:solidFill>
              <a:latin typeface="Times New Roman"/>
              <a:ea typeface="Times New Roman"/>
              <a:cs typeface="Times New Roman"/>
              <a:sym typeface="Times New Roman"/>
            </a:endParaRPr>
          </a:p>
          <a:p>
            <a:pPr indent="0" lvl="0" marL="76200" rtl="0" algn="l">
              <a:lnSpc>
                <a:spcPct val="115000"/>
              </a:lnSpc>
              <a:spcBef>
                <a:spcPts val="200"/>
              </a:spcBef>
              <a:spcAft>
                <a:spcPts val="0"/>
              </a:spcAft>
              <a:buNone/>
            </a:pPr>
            <a:r>
              <a:rPr lang="en-US" sz="3000">
                <a:solidFill>
                  <a:schemeClr val="dk1"/>
                </a:solidFill>
                <a:latin typeface="Times New Roman"/>
                <a:ea typeface="Times New Roman"/>
                <a:cs typeface="Times New Roman"/>
                <a:sym typeface="Times New Roman"/>
              </a:rPr>
              <a:t>Event organizers have limited ability to ask:</a:t>
            </a:r>
            <a:endParaRPr sz="3000">
              <a:solidFill>
                <a:schemeClr val="dk1"/>
              </a:solidFill>
              <a:latin typeface="Times New Roman"/>
              <a:ea typeface="Times New Roman"/>
              <a:cs typeface="Times New Roman"/>
              <a:sym typeface="Times New Roman"/>
            </a:endParaRPr>
          </a:p>
          <a:p>
            <a:pPr indent="457200" lvl="0" marL="457200" rtl="0" algn="l">
              <a:lnSpc>
                <a:spcPct val="115000"/>
              </a:lnSpc>
              <a:spcBef>
                <a:spcPts val="0"/>
              </a:spcBef>
              <a:spcAft>
                <a:spcPts val="0"/>
              </a:spcAft>
              <a:buNone/>
            </a:pPr>
            <a:r>
              <a:rPr i="1" lang="en-US" sz="3000">
                <a:solidFill>
                  <a:schemeClr val="dk1"/>
                </a:solidFill>
                <a:latin typeface="Times New Roman"/>
                <a:ea typeface="Times New Roman"/>
                <a:cs typeface="Times New Roman"/>
                <a:sym typeface="Times New Roman"/>
              </a:rPr>
              <a:t>“What happens if this gate fails right now?”</a:t>
            </a:r>
            <a:endParaRPr i="1" sz="3000">
              <a:solidFill>
                <a:schemeClr val="dk1"/>
              </a:solidFill>
              <a:latin typeface="Times New Roman"/>
              <a:ea typeface="Times New Roman"/>
              <a:cs typeface="Times New Roman"/>
              <a:sym typeface="Times New Roman"/>
            </a:endParaRPr>
          </a:p>
          <a:p>
            <a:pPr indent="0" lvl="0" marL="76200" rtl="0" algn="l">
              <a:lnSpc>
                <a:spcPct val="115000"/>
              </a:lnSpc>
              <a:spcBef>
                <a:spcPts val="200"/>
              </a:spcBef>
              <a:spcAft>
                <a:spcPts val="0"/>
              </a:spcAft>
              <a:buNone/>
            </a:pPr>
            <a:r>
              <a:t/>
            </a:r>
            <a:endParaRPr sz="30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150" name="Shape 150"/>
        <p:cNvGrpSpPr/>
        <p:nvPr/>
      </p:nvGrpSpPr>
      <p:grpSpPr>
        <a:xfrm>
          <a:off x="0" y="0"/>
          <a:ext cx="0" cy="0"/>
          <a:chOff x="0" y="0"/>
          <a:chExt cx="0" cy="0"/>
        </a:xfrm>
      </p:grpSpPr>
      <p:sp>
        <p:nvSpPr>
          <p:cNvPr id="151" name="Google Shape;151;g3f63ff5e64d_0_65"/>
          <p:cNvSpPr txBox="1"/>
          <p:nvPr/>
        </p:nvSpPr>
        <p:spPr>
          <a:xfrm>
            <a:off x="770200" y="1854450"/>
            <a:ext cx="10460100" cy="1077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7000">
                <a:solidFill>
                  <a:srgbClr val="262326"/>
                </a:solidFill>
                <a:latin typeface="Times New Roman"/>
                <a:ea typeface="Times New Roman"/>
                <a:cs typeface="Times New Roman"/>
                <a:sym typeface="Times New Roman"/>
              </a:rPr>
              <a:t>PROBLEM SOLUTION</a:t>
            </a:r>
            <a:endParaRPr b="1" sz="7000">
              <a:solidFill>
                <a:srgbClr val="262326"/>
              </a:solidFill>
              <a:latin typeface="Times New Roman"/>
              <a:ea typeface="Times New Roman"/>
              <a:cs typeface="Times New Roman"/>
              <a:sym typeface="Times New Roman"/>
            </a:endParaRPr>
          </a:p>
        </p:txBody>
      </p:sp>
      <p:grpSp>
        <p:nvGrpSpPr>
          <p:cNvPr id="152" name="Google Shape;152;g3f63ff5e64d_0_65"/>
          <p:cNvGrpSpPr/>
          <p:nvPr/>
        </p:nvGrpSpPr>
        <p:grpSpPr>
          <a:xfrm>
            <a:off x="13962452" y="6089081"/>
            <a:ext cx="5939509" cy="5589432"/>
            <a:chOff x="0" y="0"/>
            <a:chExt cx="459057" cy="432000"/>
          </a:xfrm>
        </p:grpSpPr>
        <p:sp>
          <p:nvSpPr>
            <p:cNvPr id="153" name="Google Shape;153;g3f63ff5e64d_0_65"/>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EE8C1A"/>
            </a:solidFill>
            <a:ln>
              <a:noFill/>
            </a:ln>
          </p:spPr>
        </p:sp>
        <p:sp>
          <p:nvSpPr>
            <p:cNvPr id="154" name="Google Shape;154;g3f63ff5e64d_0_65"/>
            <p:cNvSpPr txBox="1"/>
            <p:nvPr/>
          </p:nvSpPr>
          <p:spPr>
            <a:xfrm>
              <a:off x="177800" y="0"/>
              <a:ext cx="205200" cy="4320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5" name="Google Shape;155;g3f63ff5e64d_0_65"/>
          <p:cNvGrpSpPr/>
          <p:nvPr/>
        </p:nvGrpSpPr>
        <p:grpSpPr>
          <a:xfrm>
            <a:off x="15693524" y="-181017"/>
            <a:ext cx="3131549" cy="2946974"/>
            <a:chOff x="0" y="0"/>
            <a:chExt cx="459057" cy="432000"/>
          </a:xfrm>
        </p:grpSpPr>
        <p:sp>
          <p:nvSpPr>
            <p:cNvPr id="156" name="Google Shape;156;g3f63ff5e64d_0_65"/>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FDBE12"/>
            </a:solidFill>
            <a:ln>
              <a:noFill/>
            </a:ln>
          </p:spPr>
        </p:sp>
        <p:sp>
          <p:nvSpPr>
            <p:cNvPr id="157" name="Google Shape;157;g3f63ff5e64d_0_65"/>
            <p:cNvSpPr txBox="1"/>
            <p:nvPr/>
          </p:nvSpPr>
          <p:spPr>
            <a:xfrm>
              <a:off x="177800" y="0"/>
              <a:ext cx="205200" cy="4320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8" name="Google Shape;158;g3f63ff5e64d_0_65"/>
          <p:cNvSpPr txBox="1"/>
          <p:nvPr/>
        </p:nvSpPr>
        <p:spPr>
          <a:xfrm>
            <a:off x="860675" y="3134100"/>
            <a:ext cx="15053400" cy="59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500">
                <a:solidFill>
                  <a:schemeClr val="dk1"/>
                </a:solidFill>
                <a:latin typeface="Calibri"/>
                <a:ea typeface="Calibri"/>
                <a:cs typeface="Calibri"/>
                <a:sym typeface="Calibri"/>
              </a:rPr>
              <a:t>CrowdShield AI is a crowd prediction and decision-support simulator that analyzes crowd video, predicts how the situation may evolve, recreates it in a 3D Digital Twin, and allows operators to test different “what-if” interventions before choosing a safer strategy.</a:t>
            </a:r>
            <a:br>
              <a:rPr lang="en-US" sz="3500">
                <a:solidFill>
                  <a:schemeClr val="dk1"/>
                </a:solidFill>
                <a:latin typeface="Calibri"/>
                <a:ea typeface="Calibri"/>
                <a:cs typeface="Calibri"/>
                <a:sym typeface="Calibri"/>
              </a:rPr>
            </a:br>
            <a:r>
              <a:rPr lang="en-US" sz="3500">
                <a:solidFill>
                  <a:schemeClr val="dk1"/>
                </a:solidFill>
                <a:latin typeface="Calibri"/>
                <a:ea typeface="Calibri"/>
                <a:cs typeface="Calibri"/>
                <a:sym typeface="Calibri"/>
              </a:rPr>
              <a:t>Which gives the event management and handling of </a:t>
            </a:r>
            <a:r>
              <a:rPr lang="en-US" sz="3500">
                <a:solidFill>
                  <a:schemeClr val="dk1"/>
                </a:solidFill>
                <a:latin typeface="Calibri"/>
                <a:ea typeface="Calibri"/>
                <a:cs typeface="Calibri"/>
                <a:sym typeface="Calibri"/>
              </a:rPr>
              <a:t>events</a:t>
            </a:r>
            <a:r>
              <a:rPr lang="en-US" sz="3500">
                <a:solidFill>
                  <a:schemeClr val="dk1"/>
                </a:solidFill>
                <a:latin typeface="Calibri"/>
                <a:ea typeface="Calibri"/>
                <a:cs typeface="Calibri"/>
                <a:sym typeface="Calibri"/>
              </a:rPr>
              <a:t> much more smoother</a:t>
            </a:r>
            <a:endParaRPr sz="35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162" name="Shape 162"/>
        <p:cNvGrpSpPr/>
        <p:nvPr/>
      </p:nvGrpSpPr>
      <p:grpSpPr>
        <a:xfrm>
          <a:off x="0" y="0"/>
          <a:ext cx="0" cy="0"/>
          <a:chOff x="0" y="0"/>
          <a:chExt cx="0" cy="0"/>
        </a:xfrm>
      </p:grpSpPr>
      <p:sp>
        <p:nvSpPr>
          <p:cNvPr id="163" name="Google Shape;163;p4"/>
          <p:cNvSpPr txBox="1"/>
          <p:nvPr/>
        </p:nvSpPr>
        <p:spPr>
          <a:xfrm>
            <a:off x="3368538" y="369200"/>
            <a:ext cx="113070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t/>
            </a:r>
            <a:endParaRPr/>
          </a:p>
        </p:txBody>
      </p:sp>
      <p:grpSp>
        <p:nvGrpSpPr>
          <p:cNvPr id="164" name="Google Shape;164;p4"/>
          <p:cNvGrpSpPr/>
          <p:nvPr/>
        </p:nvGrpSpPr>
        <p:grpSpPr>
          <a:xfrm>
            <a:off x="13962452" y="6089081"/>
            <a:ext cx="5939508" cy="5588498"/>
            <a:chOff x="0" y="0"/>
            <a:chExt cx="459057" cy="431928"/>
          </a:xfrm>
        </p:grpSpPr>
        <p:sp>
          <p:nvSpPr>
            <p:cNvPr id="165" name="Google Shape;165;p4"/>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EE8C1A"/>
            </a:solidFill>
            <a:ln>
              <a:noFill/>
            </a:ln>
          </p:spPr>
        </p:sp>
        <p:sp>
          <p:nvSpPr>
            <p:cNvPr id="166" name="Google Shape;166;p4"/>
            <p:cNvSpPr txBox="1"/>
            <p:nvPr/>
          </p:nvSpPr>
          <p:spPr>
            <a:xfrm>
              <a:off x="177800" y="0"/>
              <a:ext cx="205057" cy="431928"/>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7" name="Google Shape;167;p4"/>
          <p:cNvGrpSpPr/>
          <p:nvPr/>
        </p:nvGrpSpPr>
        <p:grpSpPr>
          <a:xfrm>
            <a:off x="15693524" y="-181017"/>
            <a:ext cx="3131551" cy="2946484"/>
            <a:chOff x="0" y="0"/>
            <a:chExt cx="459057" cy="431928"/>
          </a:xfrm>
        </p:grpSpPr>
        <p:sp>
          <p:nvSpPr>
            <p:cNvPr id="168" name="Google Shape;168;p4"/>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FDBE12"/>
            </a:solidFill>
            <a:ln>
              <a:noFill/>
            </a:ln>
          </p:spPr>
        </p:sp>
        <p:sp>
          <p:nvSpPr>
            <p:cNvPr id="169" name="Google Shape;169;p4"/>
            <p:cNvSpPr txBox="1"/>
            <p:nvPr/>
          </p:nvSpPr>
          <p:spPr>
            <a:xfrm>
              <a:off x="177800" y="0"/>
              <a:ext cx="205057" cy="431928"/>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0" name="Google Shape;170;p4"/>
          <p:cNvSpPr txBox="1"/>
          <p:nvPr/>
        </p:nvSpPr>
        <p:spPr>
          <a:xfrm>
            <a:off x="770200" y="1875639"/>
            <a:ext cx="15784200" cy="691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4100">
                <a:latin typeface="Times New Roman"/>
                <a:ea typeface="Times New Roman"/>
                <a:cs typeface="Times New Roman"/>
                <a:sym typeface="Times New Roman"/>
              </a:rPr>
              <a:t>CrowdShield AI — From Detection to Decision</a:t>
            </a:r>
            <a:r>
              <a:rPr lang="en-US" sz="4100">
                <a:latin typeface="Times New Roman"/>
                <a:ea typeface="Times New Roman"/>
                <a:cs typeface="Times New Roman"/>
                <a:sym typeface="Times New Roman"/>
              </a:rPr>
              <a:t> </a:t>
            </a:r>
            <a:endParaRPr sz="4100">
              <a:latin typeface="Times New Roman"/>
              <a:ea typeface="Times New Roman"/>
              <a:cs typeface="Times New Roman"/>
              <a:sym typeface="Times New Roman"/>
            </a:endParaRPr>
          </a:p>
          <a:p>
            <a:pPr indent="457200" lvl="0" marL="457200" rtl="0" algn="l">
              <a:spcBef>
                <a:spcPts val="0"/>
              </a:spcBef>
              <a:spcAft>
                <a:spcPts val="0"/>
              </a:spcAft>
              <a:buNone/>
            </a:pPr>
            <a:r>
              <a:rPr lang="en-US" sz="3300">
                <a:latin typeface="Times New Roman"/>
                <a:ea typeface="Times New Roman"/>
                <a:cs typeface="Times New Roman"/>
                <a:sym typeface="Times New Roman"/>
              </a:rPr>
              <a:t>CrowdShield AI is a predictive crowd-management platform that combines Computer Vision, Crowd Analytics, Risk Prediction, Digital Twin Simulation, and AI-assisted Decision Making. </a:t>
            </a:r>
            <a:endParaRPr sz="3300">
              <a:latin typeface="Times New Roman"/>
              <a:ea typeface="Times New Roman"/>
              <a:cs typeface="Times New Roman"/>
              <a:sym typeface="Times New Roman"/>
            </a:endParaRPr>
          </a:p>
          <a:p>
            <a:pPr indent="0" lvl="0" marL="0" rtl="0" algn="l">
              <a:spcBef>
                <a:spcPts val="0"/>
              </a:spcBef>
              <a:spcAft>
                <a:spcPts val="0"/>
              </a:spcAft>
              <a:buNone/>
            </a:pPr>
            <a:r>
              <a:rPr b="1" lang="en-US" sz="3300">
                <a:latin typeface="Times New Roman"/>
                <a:ea typeface="Times New Roman"/>
                <a:cs typeface="Times New Roman"/>
                <a:sym typeface="Times New Roman"/>
              </a:rPr>
              <a:t>How it works:</a:t>
            </a:r>
            <a:r>
              <a:rPr lang="en-US" sz="3300">
                <a:latin typeface="Times New Roman"/>
                <a:ea typeface="Times New Roman"/>
                <a:cs typeface="Times New Roman"/>
                <a:sym typeface="Times New Roman"/>
              </a:rPr>
              <a:t> </a:t>
            </a:r>
            <a:endParaRPr sz="3300">
              <a:latin typeface="Times New Roman"/>
              <a:ea typeface="Times New Roman"/>
              <a:cs typeface="Times New Roman"/>
              <a:sym typeface="Times New Roman"/>
            </a:endParaRPr>
          </a:p>
          <a:p>
            <a:pPr indent="457200" lvl="0" marL="0" rtl="0" algn="l">
              <a:spcBef>
                <a:spcPts val="0"/>
              </a:spcBef>
              <a:spcAft>
                <a:spcPts val="0"/>
              </a:spcAft>
              <a:buNone/>
            </a:pPr>
            <a:r>
              <a:rPr lang="en-US" sz="3300">
                <a:latin typeface="Times New Roman"/>
                <a:ea typeface="Times New Roman"/>
                <a:cs typeface="Times New Roman"/>
                <a:sym typeface="Times New Roman"/>
              </a:rPr>
              <a:t>1. </a:t>
            </a:r>
            <a:r>
              <a:rPr b="1" lang="en-US" sz="3300">
                <a:latin typeface="Times New Roman"/>
                <a:ea typeface="Times New Roman"/>
                <a:cs typeface="Times New Roman"/>
                <a:sym typeface="Times New Roman"/>
              </a:rPr>
              <a:t>Monitor</a:t>
            </a:r>
            <a:r>
              <a:rPr lang="en-US" sz="3300">
                <a:latin typeface="Times New Roman"/>
                <a:ea typeface="Times New Roman"/>
                <a:cs typeface="Times New Roman"/>
                <a:sym typeface="Times New Roman"/>
              </a:rPr>
              <a:t> : </a:t>
            </a:r>
            <a:r>
              <a:rPr lang="en-US" sz="3300">
                <a:latin typeface="Times New Roman"/>
                <a:ea typeface="Times New Roman"/>
                <a:cs typeface="Times New Roman"/>
                <a:sym typeface="Times New Roman"/>
              </a:rPr>
              <a:t>Analyze CCTV footage or simulated crowd video.</a:t>
            </a:r>
            <a:endParaRPr sz="3300">
              <a:latin typeface="Times New Roman"/>
              <a:ea typeface="Times New Roman"/>
              <a:cs typeface="Times New Roman"/>
              <a:sym typeface="Times New Roman"/>
            </a:endParaRPr>
          </a:p>
          <a:p>
            <a:pPr indent="457200" lvl="0" marL="0" rtl="0" algn="l">
              <a:spcBef>
                <a:spcPts val="0"/>
              </a:spcBef>
              <a:spcAft>
                <a:spcPts val="0"/>
              </a:spcAft>
              <a:buNone/>
            </a:pPr>
            <a:r>
              <a:rPr lang="en-US" sz="3300">
                <a:latin typeface="Times New Roman"/>
                <a:ea typeface="Times New Roman"/>
                <a:cs typeface="Times New Roman"/>
                <a:sym typeface="Times New Roman"/>
              </a:rPr>
              <a:t>2. </a:t>
            </a:r>
            <a:r>
              <a:rPr b="1" lang="en-US" sz="3300">
                <a:latin typeface="Times New Roman"/>
                <a:ea typeface="Times New Roman"/>
                <a:cs typeface="Times New Roman"/>
                <a:sym typeface="Times New Roman"/>
              </a:rPr>
              <a:t>Understand</a:t>
            </a:r>
            <a:r>
              <a:rPr lang="en-US" sz="3300">
                <a:latin typeface="Times New Roman"/>
                <a:ea typeface="Times New Roman"/>
                <a:cs typeface="Times New Roman"/>
                <a:sym typeface="Times New Roman"/>
              </a:rPr>
              <a:t> : </a:t>
            </a:r>
            <a:r>
              <a:rPr lang="en-US" sz="3300">
                <a:latin typeface="Times New Roman"/>
                <a:ea typeface="Times New Roman"/>
                <a:cs typeface="Times New Roman"/>
                <a:sym typeface="Times New Roman"/>
              </a:rPr>
              <a:t>Detect people and calculate density, movement, flow, and congestion.</a:t>
            </a:r>
            <a:endParaRPr sz="3300">
              <a:latin typeface="Times New Roman"/>
              <a:ea typeface="Times New Roman"/>
              <a:cs typeface="Times New Roman"/>
              <a:sym typeface="Times New Roman"/>
            </a:endParaRPr>
          </a:p>
          <a:p>
            <a:pPr indent="0" lvl="0" marL="0" rtl="0" algn="l">
              <a:spcBef>
                <a:spcPts val="0"/>
              </a:spcBef>
              <a:spcAft>
                <a:spcPts val="0"/>
              </a:spcAft>
              <a:buNone/>
            </a:pPr>
            <a:r>
              <a:rPr lang="en-US" sz="3300">
                <a:latin typeface="Times New Roman"/>
                <a:ea typeface="Times New Roman"/>
                <a:cs typeface="Times New Roman"/>
                <a:sym typeface="Times New Roman"/>
              </a:rPr>
              <a:t> 	3. </a:t>
            </a:r>
            <a:r>
              <a:rPr b="1" lang="en-US" sz="3300">
                <a:latin typeface="Times New Roman"/>
                <a:ea typeface="Times New Roman"/>
                <a:cs typeface="Times New Roman"/>
                <a:sym typeface="Times New Roman"/>
              </a:rPr>
              <a:t>Predict</a:t>
            </a:r>
            <a:r>
              <a:rPr lang="en-US" sz="3300">
                <a:latin typeface="Times New Roman"/>
                <a:ea typeface="Times New Roman"/>
                <a:cs typeface="Times New Roman"/>
                <a:sym typeface="Times New Roman"/>
              </a:rPr>
              <a:t> : </a:t>
            </a:r>
            <a:r>
              <a:rPr lang="en-US" sz="3300">
                <a:latin typeface="Times New Roman"/>
                <a:ea typeface="Times New Roman"/>
                <a:cs typeface="Times New Roman"/>
                <a:sym typeface="Times New Roman"/>
              </a:rPr>
              <a:t>Estimate whether a zone is moving toward a dangerous state.</a:t>
            </a:r>
            <a:endParaRPr sz="3300">
              <a:latin typeface="Times New Roman"/>
              <a:ea typeface="Times New Roman"/>
              <a:cs typeface="Times New Roman"/>
              <a:sym typeface="Times New Roman"/>
            </a:endParaRPr>
          </a:p>
          <a:p>
            <a:pPr indent="0" lvl="0" marL="0" rtl="0" algn="l">
              <a:spcBef>
                <a:spcPts val="0"/>
              </a:spcBef>
              <a:spcAft>
                <a:spcPts val="0"/>
              </a:spcAft>
              <a:buNone/>
            </a:pPr>
            <a:r>
              <a:rPr lang="en-US" sz="3300">
                <a:latin typeface="Times New Roman"/>
                <a:ea typeface="Times New Roman"/>
                <a:cs typeface="Times New Roman"/>
                <a:sym typeface="Times New Roman"/>
              </a:rPr>
              <a:t> 	4. </a:t>
            </a:r>
            <a:r>
              <a:rPr b="1" lang="en-US" sz="3300">
                <a:latin typeface="Times New Roman"/>
                <a:ea typeface="Times New Roman"/>
                <a:cs typeface="Times New Roman"/>
                <a:sym typeface="Times New Roman"/>
              </a:rPr>
              <a:t>Simulate : </a:t>
            </a:r>
            <a:r>
              <a:rPr lang="en-US" sz="3300">
                <a:latin typeface="Times New Roman"/>
                <a:ea typeface="Times New Roman"/>
                <a:cs typeface="Times New Roman"/>
                <a:sym typeface="Times New Roman"/>
              </a:rPr>
              <a:t>Use the Digital Twin to test possible interventions. </a:t>
            </a:r>
            <a:endParaRPr sz="3300">
              <a:latin typeface="Times New Roman"/>
              <a:ea typeface="Times New Roman"/>
              <a:cs typeface="Times New Roman"/>
              <a:sym typeface="Times New Roman"/>
            </a:endParaRPr>
          </a:p>
          <a:p>
            <a:pPr indent="0" lvl="0" marL="0" rtl="0" algn="l">
              <a:spcBef>
                <a:spcPts val="0"/>
              </a:spcBef>
              <a:spcAft>
                <a:spcPts val="0"/>
              </a:spcAft>
              <a:buNone/>
            </a:pPr>
            <a:r>
              <a:rPr lang="en-US" sz="3300">
                <a:latin typeface="Times New Roman"/>
                <a:ea typeface="Times New Roman"/>
                <a:cs typeface="Times New Roman"/>
                <a:sym typeface="Times New Roman"/>
              </a:rPr>
              <a:t> 	5.</a:t>
            </a:r>
            <a:r>
              <a:rPr b="1" lang="en-US" sz="3300">
                <a:latin typeface="Times New Roman"/>
                <a:ea typeface="Times New Roman"/>
                <a:cs typeface="Times New Roman"/>
                <a:sym typeface="Times New Roman"/>
              </a:rPr>
              <a:t> Decide</a:t>
            </a:r>
            <a:r>
              <a:rPr lang="en-US" sz="3300">
                <a:latin typeface="Times New Roman"/>
                <a:ea typeface="Times New Roman"/>
                <a:cs typeface="Times New Roman"/>
                <a:sym typeface="Times New Roman"/>
              </a:rPr>
              <a:t> : </a:t>
            </a:r>
            <a:r>
              <a:rPr lang="en-US" sz="3300">
                <a:latin typeface="Times New Roman"/>
                <a:ea typeface="Times New Roman"/>
                <a:cs typeface="Times New Roman"/>
                <a:sym typeface="Times New Roman"/>
              </a:rPr>
              <a:t>Select the safest feasible intervention.</a:t>
            </a:r>
            <a:endParaRPr sz="3300">
              <a:latin typeface="Times New Roman"/>
              <a:ea typeface="Times New Roman"/>
              <a:cs typeface="Times New Roman"/>
              <a:sym typeface="Times New Roman"/>
            </a:endParaRPr>
          </a:p>
          <a:p>
            <a:pPr indent="0" lvl="0" marL="0" rtl="0" algn="l">
              <a:spcBef>
                <a:spcPts val="0"/>
              </a:spcBef>
              <a:spcAft>
                <a:spcPts val="0"/>
              </a:spcAft>
              <a:buNone/>
            </a:pPr>
            <a:r>
              <a:rPr lang="en-US" sz="3300">
                <a:latin typeface="Times New Roman"/>
                <a:ea typeface="Times New Roman"/>
                <a:cs typeface="Times New Roman"/>
                <a:sym typeface="Times New Roman"/>
              </a:rPr>
              <a:t> 	6. </a:t>
            </a:r>
            <a:r>
              <a:rPr b="1" lang="en-US" sz="3300">
                <a:latin typeface="Times New Roman"/>
                <a:ea typeface="Times New Roman"/>
                <a:cs typeface="Times New Roman"/>
                <a:sym typeface="Times New Roman"/>
              </a:rPr>
              <a:t>Communicate</a:t>
            </a:r>
            <a:r>
              <a:rPr lang="en-US" sz="3300">
                <a:latin typeface="Times New Roman"/>
                <a:ea typeface="Times New Roman"/>
                <a:cs typeface="Times New Roman"/>
                <a:sym typeface="Times New Roman"/>
              </a:rPr>
              <a:t> : </a:t>
            </a:r>
            <a:r>
              <a:rPr lang="en-US" sz="3300">
                <a:latin typeface="Times New Roman"/>
                <a:ea typeface="Times New Roman"/>
                <a:cs typeface="Times New Roman"/>
                <a:sym typeface="Times New Roman"/>
              </a:rPr>
              <a:t>Generate instructions for signs, security personnel, public announcements, or mobile users.</a:t>
            </a:r>
            <a:endParaRPr sz="3300">
              <a:latin typeface="Times New Roman"/>
              <a:ea typeface="Times New Roman"/>
              <a:cs typeface="Times New Roman"/>
              <a:sym typeface="Times New Roman"/>
            </a:endParaRPr>
          </a:p>
          <a:p>
            <a:pPr indent="457200" lvl="0" marL="0" rtl="0" algn="l">
              <a:spcBef>
                <a:spcPts val="0"/>
              </a:spcBef>
              <a:spcAft>
                <a:spcPts val="0"/>
              </a:spcAft>
              <a:buNone/>
            </a:pPr>
            <a:r>
              <a:rPr lang="en-US" sz="3300">
                <a:latin typeface="Times New Roman"/>
                <a:ea typeface="Times New Roman"/>
                <a:cs typeface="Times New Roman"/>
                <a:sym typeface="Times New Roman"/>
              </a:rPr>
              <a:t>7. </a:t>
            </a:r>
            <a:r>
              <a:rPr b="1" lang="en-US" sz="3300">
                <a:latin typeface="Times New Roman"/>
                <a:ea typeface="Times New Roman"/>
                <a:cs typeface="Times New Roman"/>
                <a:sym typeface="Times New Roman"/>
              </a:rPr>
              <a:t>Verify : </a:t>
            </a:r>
            <a:r>
              <a:rPr lang="en-US" sz="3300">
                <a:latin typeface="Times New Roman"/>
                <a:ea typeface="Times New Roman"/>
                <a:cs typeface="Times New Roman"/>
                <a:sym typeface="Times New Roman"/>
              </a:rPr>
              <a:t>Observe the crowd again and measure whether the intervention reduced risk.</a:t>
            </a:r>
            <a:endParaRPr sz="33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174" name="Shape 174"/>
        <p:cNvGrpSpPr/>
        <p:nvPr/>
      </p:nvGrpSpPr>
      <p:grpSpPr>
        <a:xfrm>
          <a:off x="0" y="0"/>
          <a:ext cx="0" cy="0"/>
          <a:chOff x="0" y="0"/>
          <a:chExt cx="0" cy="0"/>
        </a:xfrm>
      </p:grpSpPr>
      <p:sp>
        <p:nvSpPr>
          <p:cNvPr id="175" name="Google Shape;175;g3f63ff5e64d_0_35"/>
          <p:cNvSpPr txBox="1"/>
          <p:nvPr/>
        </p:nvSpPr>
        <p:spPr>
          <a:xfrm>
            <a:off x="3368538" y="369200"/>
            <a:ext cx="113070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t/>
            </a:r>
            <a:endParaRPr/>
          </a:p>
        </p:txBody>
      </p:sp>
      <p:grpSp>
        <p:nvGrpSpPr>
          <p:cNvPr id="176" name="Google Shape;176;g3f63ff5e64d_0_35"/>
          <p:cNvGrpSpPr/>
          <p:nvPr/>
        </p:nvGrpSpPr>
        <p:grpSpPr>
          <a:xfrm>
            <a:off x="13962452" y="6089081"/>
            <a:ext cx="5939509" cy="5589432"/>
            <a:chOff x="0" y="0"/>
            <a:chExt cx="459057" cy="432000"/>
          </a:xfrm>
        </p:grpSpPr>
        <p:sp>
          <p:nvSpPr>
            <p:cNvPr id="177" name="Google Shape;177;g3f63ff5e64d_0_35"/>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EE8C1A"/>
            </a:solidFill>
            <a:ln>
              <a:noFill/>
            </a:ln>
          </p:spPr>
        </p:sp>
        <p:sp>
          <p:nvSpPr>
            <p:cNvPr id="178" name="Google Shape;178;g3f63ff5e64d_0_35"/>
            <p:cNvSpPr txBox="1"/>
            <p:nvPr/>
          </p:nvSpPr>
          <p:spPr>
            <a:xfrm>
              <a:off x="177800" y="0"/>
              <a:ext cx="205200" cy="4320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79" name="Google Shape;179;g3f63ff5e64d_0_35"/>
          <p:cNvGrpSpPr/>
          <p:nvPr/>
        </p:nvGrpSpPr>
        <p:grpSpPr>
          <a:xfrm>
            <a:off x="15693524" y="-181017"/>
            <a:ext cx="3131549" cy="2946974"/>
            <a:chOff x="0" y="0"/>
            <a:chExt cx="459057" cy="432000"/>
          </a:xfrm>
        </p:grpSpPr>
        <p:sp>
          <p:nvSpPr>
            <p:cNvPr id="180" name="Google Shape;180;g3f63ff5e64d_0_35"/>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FDBE12"/>
            </a:solidFill>
            <a:ln>
              <a:noFill/>
            </a:ln>
          </p:spPr>
        </p:sp>
        <p:sp>
          <p:nvSpPr>
            <p:cNvPr id="181" name="Google Shape;181;g3f63ff5e64d_0_35"/>
            <p:cNvSpPr txBox="1"/>
            <p:nvPr/>
          </p:nvSpPr>
          <p:spPr>
            <a:xfrm>
              <a:off x="177800" y="0"/>
              <a:ext cx="205200" cy="4320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2" name="Google Shape;182;g3f63ff5e64d_0_35"/>
          <p:cNvSpPr txBox="1"/>
          <p:nvPr/>
        </p:nvSpPr>
        <p:spPr>
          <a:xfrm>
            <a:off x="457200" y="9471575"/>
            <a:ext cx="4782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183" name="Google Shape;183;g3f63ff5e64d_0_35"/>
          <p:cNvSpPr txBox="1"/>
          <p:nvPr/>
        </p:nvSpPr>
        <p:spPr>
          <a:xfrm>
            <a:off x="457200" y="2199825"/>
            <a:ext cx="15876000" cy="623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4000">
                <a:solidFill>
                  <a:schemeClr val="dk1"/>
                </a:solidFill>
                <a:latin typeface="Times New Roman"/>
                <a:ea typeface="Times New Roman"/>
                <a:cs typeface="Times New Roman"/>
                <a:sym typeface="Times New Roman"/>
              </a:rPr>
              <a:t>Key idea:</a:t>
            </a:r>
            <a:endParaRPr b="1" sz="40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US" sz="3500">
                <a:solidFill>
                  <a:schemeClr val="dk1"/>
                </a:solidFill>
                <a:latin typeface="Times New Roman"/>
                <a:ea typeface="Times New Roman"/>
                <a:cs typeface="Times New Roman"/>
                <a:sym typeface="Times New Roman"/>
              </a:rPr>
              <a:t>Traditional approach: Detect → Alert</a:t>
            </a:r>
            <a:endParaRPr sz="35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sz="3500">
                <a:solidFill>
                  <a:schemeClr val="dk1"/>
                </a:solidFill>
                <a:latin typeface="Times New Roman"/>
                <a:ea typeface="Times New Roman"/>
                <a:cs typeface="Times New Roman"/>
                <a:sym typeface="Times New Roman"/>
              </a:rPr>
              <a:t>CrowdShield AI: Detect → Predict → Simulate → Decide → Act → Verif</a:t>
            </a:r>
            <a:r>
              <a:rPr lang="en-US" sz="3500">
                <a:solidFill>
                  <a:schemeClr val="dk1"/>
                </a:solidFill>
                <a:latin typeface="Times New Roman"/>
                <a:ea typeface="Times New Roman"/>
                <a:cs typeface="Times New Roman"/>
                <a:sym typeface="Times New Roman"/>
              </a:rPr>
              <a:t>y</a:t>
            </a:r>
            <a:r>
              <a:rPr lang="en-US" sz="3500">
                <a:solidFill>
                  <a:schemeClr val="dk1"/>
                </a:solidFill>
                <a:latin typeface="Times New Roman"/>
                <a:ea typeface="Times New Roman"/>
                <a:cs typeface="Times New Roman"/>
                <a:sym typeface="Times New Roman"/>
              </a:rPr>
              <a:t> </a:t>
            </a:r>
            <a:endParaRPr sz="3500">
              <a:solidFill>
                <a:schemeClr val="dk1"/>
              </a:solidFill>
              <a:latin typeface="Times New Roman"/>
              <a:ea typeface="Times New Roman"/>
              <a:cs typeface="Times New Roman"/>
              <a:sym typeface="Times New Roman"/>
            </a:endParaRPr>
          </a:p>
          <a:p>
            <a:pPr indent="0" lvl="0" marL="0" rtl="0" algn="l">
              <a:lnSpc>
                <a:spcPct val="115000"/>
              </a:lnSpc>
              <a:spcBef>
                <a:spcPts val="1100"/>
              </a:spcBef>
              <a:spcAft>
                <a:spcPts val="0"/>
              </a:spcAft>
              <a:buNone/>
            </a:pPr>
            <a:r>
              <a:rPr b="1" lang="en-US" sz="4000">
                <a:solidFill>
                  <a:schemeClr val="dk1"/>
                </a:solidFill>
                <a:latin typeface="Times New Roman"/>
                <a:ea typeface="Times New Roman"/>
                <a:cs typeface="Times New Roman"/>
                <a:sym typeface="Times New Roman"/>
              </a:rPr>
              <a:t>Visual:</a:t>
            </a:r>
            <a:endParaRPr b="1" sz="4000">
              <a:solidFill>
                <a:schemeClr val="dk1"/>
              </a:solidFill>
              <a:latin typeface="Times New Roman"/>
              <a:ea typeface="Times New Roman"/>
              <a:cs typeface="Times New Roman"/>
              <a:sym typeface="Times New Roman"/>
            </a:endParaRPr>
          </a:p>
          <a:p>
            <a:pPr indent="0" lvl="0" marL="0" rtl="0" algn="l">
              <a:lnSpc>
                <a:spcPct val="115000"/>
              </a:lnSpc>
              <a:spcBef>
                <a:spcPts val="200"/>
              </a:spcBef>
              <a:spcAft>
                <a:spcPts val="0"/>
              </a:spcAft>
              <a:buNone/>
            </a:pPr>
            <a:r>
              <a:rPr lang="en-US" sz="3500">
                <a:solidFill>
                  <a:schemeClr val="dk1"/>
                </a:solidFill>
                <a:latin typeface="Times New Roman"/>
                <a:ea typeface="Times New Roman"/>
                <a:cs typeface="Times New Roman"/>
                <a:sym typeface="Times New Roman"/>
              </a:rPr>
              <a:t>Place the two approaches side by side. Make the CrowdShield pipeline much larger, </a:t>
            </a:r>
            <a:br>
              <a:rPr lang="en-US" sz="3500">
                <a:solidFill>
                  <a:schemeClr val="dk1"/>
                </a:solidFill>
                <a:latin typeface="Times New Roman"/>
                <a:ea typeface="Times New Roman"/>
                <a:cs typeface="Times New Roman"/>
                <a:sym typeface="Times New Roman"/>
              </a:rPr>
            </a:br>
            <a:br>
              <a:rPr lang="en-US" sz="3500">
                <a:solidFill>
                  <a:schemeClr val="dk1"/>
                </a:solidFill>
                <a:latin typeface="Times New Roman"/>
                <a:ea typeface="Times New Roman"/>
                <a:cs typeface="Times New Roman"/>
                <a:sym typeface="Times New Roman"/>
              </a:rPr>
            </a:br>
            <a:r>
              <a:rPr b="1" lang="en-US" sz="3500">
                <a:solidFill>
                  <a:schemeClr val="dk1"/>
                </a:solidFill>
                <a:latin typeface="Times New Roman"/>
                <a:ea typeface="Times New Roman"/>
                <a:cs typeface="Times New Roman"/>
                <a:sym typeface="Times New Roman"/>
              </a:rPr>
              <a:t>Tech</a:t>
            </a:r>
            <a:r>
              <a:rPr b="1" lang="en-US" sz="3500">
                <a:solidFill>
                  <a:schemeClr val="dk1"/>
                </a:solidFill>
                <a:latin typeface="Times New Roman"/>
                <a:ea typeface="Times New Roman"/>
                <a:cs typeface="Times New Roman"/>
                <a:sym typeface="Times New Roman"/>
              </a:rPr>
              <a:t> </a:t>
            </a:r>
            <a:r>
              <a:rPr b="1" lang="en-US" sz="3500">
                <a:solidFill>
                  <a:schemeClr val="dk1"/>
                </a:solidFill>
                <a:latin typeface="Times New Roman"/>
                <a:ea typeface="Times New Roman"/>
                <a:cs typeface="Times New Roman"/>
                <a:sym typeface="Times New Roman"/>
              </a:rPr>
              <a:t>Stack</a:t>
            </a:r>
            <a:r>
              <a:rPr b="1" lang="en-US" sz="3500">
                <a:solidFill>
                  <a:schemeClr val="dk1"/>
                </a:solidFill>
                <a:latin typeface="Times New Roman"/>
                <a:ea typeface="Times New Roman"/>
                <a:cs typeface="Times New Roman"/>
                <a:sym typeface="Times New Roman"/>
              </a:rPr>
              <a:t> </a:t>
            </a:r>
            <a:r>
              <a:rPr b="1" lang="en-US" sz="3500">
                <a:solidFill>
                  <a:schemeClr val="dk1"/>
                </a:solidFill>
                <a:latin typeface="Times New Roman"/>
                <a:ea typeface="Times New Roman"/>
                <a:cs typeface="Times New Roman"/>
                <a:sym typeface="Times New Roman"/>
              </a:rPr>
              <a:t>Used</a:t>
            </a:r>
            <a:r>
              <a:rPr b="1" lang="en-US" sz="3500">
                <a:solidFill>
                  <a:schemeClr val="dk1"/>
                </a:solidFill>
                <a:latin typeface="Times New Roman"/>
                <a:ea typeface="Times New Roman"/>
                <a:cs typeface="Times New Roman"/>
                <a:sym typeface="Times New Roman"/>
              </a:rPr>
              <a:t> -</a:t>
            </a:r>
            <a:r>
              <a:rPr lang="en-US" sz="3500">
                <a:solidFill>
                  <a:schemeClr val="dk1"/>
                </a:solidFill>
                <a:latin typeface="Times New Roman"/>
                <a:ea typeface="Times New Roman"/>
                <a:cs typeface="Times New Roman"/>
                <a:sym typeface="Times New Roman"/>
              </a:rPr>
              <a:t> python + fast api, react , blender gpt, sql lite, vite 5, css, websockets, byte</a:t>
            </a:r>
            <a:r>
              <a:rPr lang="en-US" sz="3500">
                <a:solidFill>
                  <a:schemeClr val="dk1"/>
                </a:solidFill>
                <a:latin typeface="Times New Roman"/>
                <a:ea typeface="Times New Roman"/>
                <a:cs typeface="Times New Roman"/>
                <a:sym typeface="Times New Roman"/>
              </a:rPr>
              <a:t>track</a:t>
            </a:r>
            <a:r>
              <a:rPr lang="en-US" sz="3500">
                <a:solidFill>
                  <a:schemeClr val="dk1"/>
                </a:solidFill>
                <a:latin typeface="Times New Roman"/>
                <a:ea typeface="Times New Roman"/>
                <a:cs typeface="Times New Roman"/>
                <a:sym typeface="Times New Roman"/>
              </a:rPr>
              <a:t> &amp; yolo , numpy </a:t>
            </a:r>
            <a:endParaRPr sz="35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3E4"/>
        </a:solidFill>
      </p:bgPr>
    </p:bg>
    <p:spTree>
      <p:nvGrpSpPr>
        <p:cNvPr id="187" name="Shape 187"/>
        <p:cNvGrpSpPr/>
        <p:nvPr/>
      </p:nvGrpSpPr>
      <p:grpSpPr>
        <a:xfrm>
          <a:off x="0" y="0"/>
          <a:ext cx="0" cy="0"/>
          <a:chOff x="0" y="0"/>
          <a:chExt cx="0" cy="0"/>
        </a:xfrm>
      </p:grpSpPr>
      <p:grpSp>
        <p:nvGrpSpPr>
          <p:cNvPr id="188" name="Google Shape;188;p5"/>
          <p:cNvGrpSpPr/>
          <p:nvPr/>
        </p:nvGrpSpPr>
        <p:grpSpPr>
          <a:xfrm>
            <a:off x="13962452" y="6089081"/>
            <a:ext cx="5939508" cy="5588498"/>
            <a:chOff x="0" y="0"/>
            <a:chExt cx="459057" cy="431928"/>
          </a:xfrm>
        </p:grpSpPr>
        <p:sp>
          <p:nvSpPr>
            <p:cNvPr id="189" name="Google Shape;189;p5"/>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EE8C1A"/>
            </a:solidFill>
            <a:ln>
              <a:noFill/>
            </a:ln>
          </p:spPr>
        </p:sp>
        <p:sp>
          <p:nvSpPr>
            <p:cNvPr id="190" name="Google Shape;190;p5"/>
            <p:cNvSpPr txBox="1"/>
            <p:nvPr/>
          </p:nvSpPr>
          <p:spPr>
            <a:xfrm>
              <a:off x="177800" y="0"/>
              <a:ext cx="205057" cy="431928"/>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91" name="Google Shape;191;p5"/>
          <p:cNvGrpSpPr/>
          <p:nvPr/>
        </p:nvGrpSpPr>
        <p:grpSpPr>
          <a:xfrm>
            <a:off x="15693524" y="-181017"/>
            <a:ext cx="3131551" cy="2946484"/>
            <a:chOff x="0" y="0"/>
            <a:chExt cx="459057" cy="431928"/>
          </a:xfrm>
        </p:grpSpPr>
        <p:sp>
          <p:nvSpPr>
            <p:cNvPr id="192" name="Google Shape;192;p5"/>
            <p:cNvSpPr/>
            <p:nvPr/>
          </p:nvSpPr>
          <p:spPr>
            <a:xfrm>
              <a:off x="0" y="0"/>
              <a:ext cx="459057" cy="431928"/>
            </a:xfrm>
            <a:custGeom>
              <a:rect b="b" l="l" r="r" t="t"/>
              <a:pathLst>
                <a:path extrusionOk="0" h="431928" w="459057">
                  <a:moveTo>
                    <a:pt x="0" y="0"/>
                  </a:moveTo>
                  <a:lnTo>
                    <a:pt x="255857" y="0"/>
                  </a:lnTo>
                  <a:lnTo>
                    <a:pt x="459057" y="215964"/>
                  </a:lnTo>
                  <a:lnTo>
                    <a:pt x="255857" y="431928"/>
                  </a:lnTo>
                  <a:lnTo>
                    <a:pt x="0" y="431928"/>
                  </a:lnTo>
                  <a:lnTo>
                    <a:pt x="203200" y="215964"/>
                  </a:lnTo>
                  <a:lnTo>
                    <a:pt x="0" y="0"/>
                  </a:lnTo>
                  <a:close/>
                </a:path>
              </a:pathLst>
            </a:custGeom>
            <a:solidFill>
              <a:srgbClr val="FDBE12"/>
            </a:solidFill>
            <a:ln>
              <a:noFill/>
            </a:ln>
          </p:spPr>
        </p:sp>
        <p:sp>
          <p:nvSpPr>
            <p:cNvPr id="193" name="Google Shape;193;p5"/>
            <p:cNvSpPr txBox="1"/>
            <p:nvPr/>
          </p:nvSpPr>
          <p:spPr>
            <a:xfrm>
              <a:off x="177800" y="0"/>
              <a:ext cx="205057" cy="431928"/>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4" name="Google Shape;194;p5"/>
          <p:cNvSpPr txBox="1"/>
          <p:nvPr/>
        </p:nvSpPr>
        <p:spPr>
          <a:xfrm>
            <a:off x="3801600" y="759300"/>
            <a:ext cx="10684800" cy="538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3500">
                <a:solidFill>
                  <a:srgbClr val="262326"/>
                </a:solidFill>
                <a:latin typeface="Times New Roman"/>
                <a:ea typeface="Times New Roman"/>
                <a:cs typeface="Times New Roman"/>
                <a:sym typeface="Times New Roman"/>
              </a:rPr>
              <a:t>BLOCK DIAGRAM/FLOW CHART</a:t>
            </a:r>
            <a:endParaRPr sz="200">
              <a:latin typeface="Times New Roman"/>
              <a:ea typeface="Times New Roman"/>
              <a:cs typeface="Times New Roman"/>
              <a:sym typeface="Times New Roman"/>
            </a:endParaRPr>
          </a:p>
        </p:txBody>
      </p:sp>
      <p:pic>
        <p:nvPicPr>
          <p:cNvPr id="195" name="Google Shape;195;p5"/>
          <p:cNvPicPr preferRelativeResize="0"/>
          <p:nvPr/>
        </p:nvPicPr>
        <p:blipFill>
          <a:blip r:embed="rId3">
            <a:alphaModFix/>
          </a:blip>
          <a:stretch>
            <a:fillRect/>
          </a:stretch>
        </p:blipFill>
        <p:spPr>
          <a:xfrm>
            <a:off x="4294675" y="1620638"/>
            <a:ext cx="10436300" cy="77030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grpSp>
        <p:nvGrpSpPr>
          <p:cNvPr id="200" name="Google Shape;200;p7"/>
          <p:cNvGrpSpPr/>
          <p:nvPr/>
        </p:nvGrpSpPr>
        <p:grpSpPr>
          <a:xfrm rot="10800000">
            <a:off x="11147944" y="628767"/>
            <a:ext cx="2826801" cy="2465977"/>
            <a:chOff x="0" y="0"/>
            <a:chExt cx="465865" cy="406400"/>
          </a:xfrm>
        </p:grpSpPr>
        <p:sp>
          <p:nvSpPr>
            <p:cNvPr id="201" name="Google Shape;201;p7"/>
            <p:cNvSpPr/>
            <p:nvPr/>
          </p:nvSpPr>
          <p:spPr>
            <a:xfrm>
              <a:off x="0" y="0"/>
              <a:ext cx="465865" cy="406400"/>
            </a:xfrm>
            <a:custGeom>
              <a:rect b="b" l="l" r="r" t="t"/>
              <a:pathLst>
                <a:path extrusionOk="0" h="406400" w="465865">
                  <a:moveTo>
                    <a:pt x="0" y="0"/>
                  </a:moveTo>
                  <a:lnTo>
                    <a:pt x="262665" y="0"/>
                  </a:lnTo>
                  <a:lnTo>
                    <a:pt x="465865" y="203200"/>
                  </a:lnTo>
                  <a:lnTo>
                    <a:pt x="262665" y="406400"/>
                  </a:lnTo>
                  <a:lnTo>
                    <a:pt x="0" y="406400"/>
                  </a:lnTo>
                  <a:lnTo>
                    <a:pt x="203200" y="203200"/>
                  </a:lnTo>
                  <a:lnTo>
                    <a:pt x="0" y="0"/>
                  </a:lnTo>
                  <a:close/>
                </a:path>
              </a:pathLst>
            </a:custGeom>
            <a:solidFill>
              <a:srgbClr val="EE8C1A"/>
            </a:solidFill>
            <a:ln cap="sq" cmpd="sng" w="123825">
              <a:solidFill>
                <a:srgbClr val="FBF3E4"/>
              </a:solidFill>
              <a:prstDash val="solid"/>
              <a:miter lim="8000"/>
              <a:headEnd len="sm" w="sm" type="none"/>
              <a:tailEnd len="sm" w="sm" type="none"/>
            </a:ln>
          </p:spPr>
        </p:sp>
        <p:sp>
          <p:nvSpPr>
            <p:cNvPr id="202" name="Google Shape;202;p7"/>
            <p:cNvSpPr txBox="1"/>
            <p:nvPr/>
          </p:nvSpPr>
          <p:spPr>
            <a:xfrm>
              <a:off x="177800" y="0"/>
              <a:ext cx="211865" cy="4064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3" name="Google Shape;203;p7"/>
          <p:cNvGrpSpPr/>
          <p:nvPr/>
        </p:nvGrpSpPr>
        <p:grpSpPr>
          <a:xfrm rot="10800000">
            <a:off x="16599122" y="8307251"/>
            <a:ext cx="2826801" cy="2465977"/>
            <a:chOff x="0" y="0"/>
            <a:chExt cx="465865" cy="406400"/>
          </a:xfrm>
        </p:grpSpPr>
        <p:sp>
          <p:nvSpPr>
            <p:cNvPr id="204" name="Google Shape;204;p7"/>
            <p:cNvSpPr/>
            <p:nvPr/>
          </p:nvSpPr>
          <p:spPr>
            <a:xfrm>
              <a:off x="0" y="0"/>
              <a:ext cx="465865" cy="406400"/>
            </a:xfrm>
            <a:custGeom>
              <a:rect b="b" l="l" r="r" t="t"/>
              <a:pathLst>
                <a:path extrusionOk="0" h="406400" w="465865">
                  <a:moveTo>
                    <a:pt x="0" y="0"/>
                  </a:moveTo>
                  <a:lnTo>
                    <a:pt x="262665" y="0"/>
                  </a:lnTo>
                  <a:lnTo>
                    <a:pt x="465865" y="203200"/>
                  </a:lnTo>
                  <a:lnTo>
                    <a:pt x="262665" y="406400"/>
                  </a:lnTo>
                  <a:lnTo>
                    <a:pt x="0" y="406400"/>
                  </a:lnTo>
                  <a:lnTo>
                    <a:pt x="203200" y="203200"/>
                  </a:lnTo>
                  <a:lnTo>
                    <a:pt x="0" y="0"/>
                  </a:lnTo>
                  <a:close/>
                </a:path>
              </a:pathLst>
            </a:custGeom>
            <a:solidFill>
              <a:srgbClr val="FDBE12"/>
            </a:solidFill>
            <a:ln cap="sq" cmpd="sng" w="123825">
              <a:solidFill>
                <a:srgbClr val="FBF3E4"/>
              </a:solidFill>
              <a:prstDash val="solid"/>
              <a:miter lim="8000"/>
              <a:headEnd len="sm" w="sm" type="none"/>
              <a:tailEnd len="sm" w="sm" type="none"/>
            </a:ln>
          </p:spPr>
        </p:sp>
        <p:sp>
          <p:nvSpPr>
            <p:cNvPr id="205" name="Google Shape;205;p7"/>
            <p:cNvSpPr txBox="1"/>
            <p:nvPr/>
          </p:nvSpPr>
          <p:spPr>
            <a:xfrm>
              <a:off x="177800" y="0"/>
              <a:ext cx="211865" cy="4064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6" name="Google Shape;206;p7"/>
          <p:cNvGrpSpPr/>
          <p:nvPr/>
        </p:nvGrpSpPr>
        <p:grpSpPr>
          <a:xfrm rot="10800000">
            <a:off x="13534817" y="-1022492"/>
            <a:ext cx="6416414" cy="5597399"/>
            <a:chOff x="0" y="0"/>
            <a:chExt cx="465865" cy="406400"/>
          </a:xfrm>
        </p:grpSpPr>
        <p:sp>
          <p:nvSpPr>
            <p:cNvPr id="207" name="Google Shape;207;p7"/>
            <p:cNvSpPr/>
            <p:nvPr/>
          </p:nvSpPr>
          <p:spPr>
            <a:xfrm>
              <a:off x="0" y="0"/>
              <a:ext cx="465865" cy="406400"/>
            </a:xfrm>
            <a:custGeom>
              <a:rect b="b" l="l" r="r" t="t"/>
              <a:pathLst>
                <a:path extrusionOk="0" h="406400" w="465865">
                  <a:moveTo>
                    <a:pt x="0" y="0"/>
                  </a:moveTo>
                  <a:lnTo>
                    <a:pt x="262665" y="0"/>
                  </a:lnTo>
                  <a:lnTo>
                    <a:pt x="465865" y="203200"/>
                  </a:lnTo>
                  <a:lnTo>
                    <a:pt x="262665" y="406400"/>
                  </a:lnTo>
                  <a:lnTo>
                    <a:pt x="0" y="406400"/>
                  </a:lnTo>
                  <a:lnTo>
                    <a:pt x="203200" y="203200"/>
                  </a:lnTo>
                  <a:lnTo>
                    <a:pt x="0" y="0"/>
                  </a:lnTo>
                  <a:close/>
                </a:path>
              </a:pathLst>
            </a:custGeom>
            <a:solidFill>
              <a:srgbClr val="EE8C1A"/>
            </a:solidFill>
            <a:ln cap="sq" cmpd="sng" w="123825">
              <a:solidFill>
                <a:srgbClr val="FBF3E4"/>
              </a:solidFill>
              <a:prstDash val="solid"/>
              <a:miter lim="8000"/>
              <a:headEnd len="sm" w="sm" type="none"/>
              <a:tailEnd len="sm" w="sm" type="none"/>
            </a:ln>
          </p:spPr>
        </p:sp>
        <p:sp>
          <p:nvSpPr>
            <p:cNvPr id="208" name="Google Shape;208;p7"/>
            <p:cNvSpPr txBox="1"/>
            <p:nvPr/>
          </p:nvSpPr>
          <p:spPr>
            <a:xfrm>
              <a:off x="177800" y="0"/>
              <a:ext cx="211865" cy="406400"/>
            </a:xfrm>
            <a:prstGeom prst="rect">
              <a:avLst/>
            </a:prstGeom>
            <a:noFill/>
            <a:ln>
              <a:noFill/>
            </a:ln>
          </p:spPr>
          <p:txBody>
            <a:bodyPr anchorCtr="0" anchor="ctr" bIns="50800" lIns="50800" spcFirstLastPara="1" rIns="50800" wrap="square" tIns="50800">
              <a:noAutofit/>
            </a:bodyPr>
            <a:lstStyle/>
            <a:p>
              <a:pPr indent="0" lvl="0" marL="0" marR="0" rtl="0" algn="ctr">
                <a:lnSpc>
                  <a:spcPct val="16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9" name="Google Shape;209;p7"/>
          <p:cNvSpPr txBox="1"/>
          <p:nvPr/>
        </p:nvSpPr>
        <p:spPr>
          <a:xfrm>
            <a:off x="4352882" y="4572000"/>
            <a:ext cx="9582300" cy="1539000"/>
          </a:xfrm>
          <a:prstGeom prst="rect">
            <a:avLst/>
          </a:prstGeom>
          <a:noFill/>
          <a:ln>
            <a:noFill/>
          </a:ln>
        </p:spPr>
        <p:txBody>
          <a:bodyPr anchorCtr="0" anchor="t" bIns="0" lIns="0" spcFirstLastPara="1" rIns="0" wrap="square" tIns="0">
            <a:spAutoFit/>
          </a:bodyPr>
          <a:lstStyle/>
          <a:p>
            <a:pPr indent="0" lvl="0" marL="0" marR="0" rtl="0" algn="ctr">
              <a:lnSpc>
                <a:spcPct val="120002"/>
              </a:lnSpc>
              <a:spcBef>
                <a:spcPts val="0"/>
              </a:spcBef>
              <a:spcAft>
                <a:spcPts val="0"/>
              </a:spcAft>
              <a:buNone/>
            </a:pPr>
            <a:r>
              <a:rPr b="1" lang="en-US" sz="9999">
                <a:solidFill>
                  <a:srgbClr val="C2410C"/>
                </a:solidFill>
                <a:latin typeface="Arial"/>
                <a:ea typeface="Arial"/>
                <a:cs typeface="Arial"/>
                <a:sym typeface="Arial"/>
              </a:rPr>
              <a:t>THANK YOU!</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Shanmugha Jeyashree B</dc:creator>
</cp:coreProperties>
</file>